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4" r:id="rId9"/>
    <p:sldId id="267" r:id="rId10"/>
    <p:sldId id="266" r:id="rId11"/>
    <p:sldId id="265" r:id="rId12"/>
    <p:sldId id="268" r:id="rId13"/>
    <p:sldId id="263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17FC9F28-B610-4BE5-82BB-39CCAEBFFBB4}">
          <p14:sldIdLst>
            <p14:sldId id="258"/>
            <p14:sldId id="256"/>
            <p14:sldId id="257"/>
            <p14:sldId id="259"/>
            <p14:sldId id="260"/>
            <p14:sldId id="261"/>
            <p14:sldId id="262"/>
            <p14:sldId id="264"/>
            <p14:sldId id="267"/>
            <p14:sldId id="266"/>
            <p14:sldId id="265"/>
            <p14:sldId id="268"/>
            <p14:sldId id="263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06:38:1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098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33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20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056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08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0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13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66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0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03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90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BDBD3-AD4C-4897-9706-D7216A1D5397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F4DA13D-E96F-4010-A4EB-32ECE0286D6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140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blog/ai-hallucin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tacamp.com/blog/what-we-know-gpt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FA436A-DD7F-4532-B2CA-F004F6554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083" y="785365"/>
            <a:ext cx="11054852" cy="2541431"/>
          </a:xfrm>
        </p:spPr>
        <p:txBody>
          <a:bodyPr>
            <a:normAutofit/>
          </a:bodyPr>
          <a:lstStyle/>
          <a:p>
            <a:pPr algn="ctr"/>
            <a:r>
              <a:rPr lang="en-US" sz="4800" b="1" i="0" dirty="0">
                <a:solidFill>
                  <a:srgbClr val="051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 Augmented Generation (RAG)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79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135B0A-39F5-474F-A814-435D4D7BB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What is Retrieval Augmented Generation (RAG)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FF4821-FE97-424A-9250-D95F71DD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228792"/>
            <a:ext cx="9603275" cy="2400416"/>
          </a:xfrm>
        </p:spPr>
        <p:txBody>
          <a:bodyPr/>
          <a:lstStyle/>
          <a:p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Retrieval Augmented Generation (RAG) is a technique that enhances LLMs by integrating them with external data sources. </a:t>
            </a:r>
          </a:p>
          <a:p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By combining the generative capabilities of models like GPT-4 with precise information retrieval mechanisms, RAG enables AI systems to produce more accurate and contextually relevant responses.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50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225E-6CB3-45C3-BF2C-1E4F0F8F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05192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LLM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91615-869B-4FA3-A09F-C066142B7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Limited knowledge</a:t>
            </a:r>
            <a:r>
              <a:rPr lang="en-US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: LLMs can only generate responses based on their training data, which may be outdated or lack domain-specific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75AD"/>
                </a:solidFill>
                <a:effectLst/>
                <a:latin typeface="Studio-Feixen-Sans"/>
                <a:hlinkClick r:id="rId2"/>
              </a:rPr>
              <a:t>Hallucinations</a:t>
            </a:r>
            <a:r>
              <a:rPr lang="en-US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: These models sometimes generate plausible-sounding but incorrect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Generic responses</a:t>
            </a:r>
            <a:r>
              <a:rPr lang="en-US" b="0" i="0" u="none" strike="noStrike" dirty="0">
                <a:solidFill>
                  <a:srgbClr val="05192D"/>
                </a:solidFill>
                <a:effectLst/>
                <a:latin typeface="Studio-Feixen-Sans"/>
              </a:rPr>
              <a:t>: Without access to external sources, LLMs may provide vague or imprecise answers.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69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47D0-BF77-4912-A1C2-57D4262A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Why Use RAG to Improve LLMs?</a:t>
            </a:r>
            <a:b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</a:br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Example:</a:t>
            </a:r>
            <a:b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D4B7-A7A0-4E99-8F54-867333F3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Imagine you are an executive for an electronics company that sells devices like smartphones and laptops. You want to create a customer support chatbot for your company to answer user queries related to product specifications, troubleshooting, warranty information, and more.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You’d like to use the capabilities of LLMs like GPT-3 or </a:t>
            </a:r>
            <a:r>
              <a:rPr lang="en-US" b="1" i="0" u="none" strike="noStrike" dirty="0">
                <a:solidFill>
                  <a:srgbClr val="0075AD"/>
                </a:solidFill>
                <a:effectLst/>
                <a:latin typeface="Studio-Feixen-Sans"/>
                <a:hlinkClick r:id="rId2"/>
              </a:rPr>
              <a:t>GPT-4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 to power your chatbot.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However, large language models have the mentioned limitations, leading to an inefficient customer experience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03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D783-02CB-4FCE-BCCD-659AE4FDC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pPr algn="ctr"/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How Does RAG Work?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2E007-2CEC-476E-A34A-998BF4AD8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Step 1: Data collection</a:t>
            </a:r>
          </a:p>
          <a:p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Step 2: Data chunking</a:t>
            </a:r>
          </a:p>
          <a:p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Step 3: Document embeddings</a:t>
            </a:r>
          </a:p>
          <a:p>
            <a:r>
              <a:rPr lang="en-IN" b="1" i="0" dirty="0">
                <a:solidFill>
                  <a:srgbClr val="05192D"/>
                </a:solidFill>
                <a:effectLst/>
                <a:latin typeface="Studio-Feixen-Sans"/>
              </a:rPr>
              <a:t>Step 4: Handling user queries</a:t>
            </a:r>
          </a:p>
          <a:p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Step 5: Generating responses with an LLM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95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BB2C-3396-481C-90CD-5DDB7F2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69894"/>
            <a:ext cx="9603275" cy="683860"/>
          </a:xfrm>
        </p:spPr>
        <p:txBody>
          <a:bodyPr/>
          <a:lstStyle/>
          <a:p>
            <a:pPr algn="ctr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Step 1: Data collection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2CAE-862D-47A6-9E93-6C437C79A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050" y="2379765"/>
            <a:ext cx="9603275" cy="1399821"/>
          </a:xfrm>
        </p:spPr>
        <p:txBody>
          <a:bodyPr/>
          <a:lstStyle/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You must first gather all the data that is needed for your application.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In the case of a customer support chatbot for an electronics company, this can include user manuals, a product database, and a list of FAQs.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28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BB2C-3396-481C-90CD-5DDB7F2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238" y="903869"/>
            <a:ext cx="9603275" cy="683860"/>
          </a:xfrm>
        </p:spPr>
        <p:txBody>
          <a:bodyPr/>
          <a:lstStyle/>
          <a:p>
            <a:pPr algn="ctr" rtl="0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Step 2: Data chunking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2CAE-862D-47A6-9E93-6C437C79A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238" y="1990167"/>
            <a:ext cx="10206318" cy="3829494"/>
          </a:xfrm>
        </p:spPr>
        <p:txBody>
          <a:bodyPr>
            <a:normAutofit fontScale="92500"/>
          </a:bodyPr>
          <a:lstStyle/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Data chunking is the process of breaking your data down into smaller, more manageable pieces.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For instance, if you have a lengthy 100-page user manual, you might break it down into different sections, each potentially answering different customer questions.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This way, each chunk of data is focused on a specific topic.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When a piece of information is retrieved from the source dataset, it is more likely to be directly applicable to the user’s query, since we avoid including irrelevant information from entire documents.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This also improves efficiency, since the system can quickly obtain the most relevant pieces of information instead of processing entire documents.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81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7446C-9A30-403D-AFA4-8F69FED19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24" y="376518"/>
            <a:ext cx="9539334" cy="515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77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AB190-3B4B-4DE8-A00F-813A2DC65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2318"/>
            <a:ext cx="9603275" cy="7914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Step 3: Document embeddings</a:t>
            </a:r>
            <a:b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9090-B2AF-4DD6-B200-55C703F39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Now that the source data has been broken down into smaller parts, it needs to be converted into a vector representation.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This involves transforming text data into embeddings, which are numeric representations that capture the semantic meaning behind text.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In simple words, document embeddings allow the system to understand user queries and match them with relevant information in the source dataset based on the meaning of the text, instead of a simple word-to-word comparison.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This method ensures that the responses are relevant and aligned with the user’s query.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16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Are Vector Embeddings? Models &amp; More Explained">
            <a:extLst>
              <a:ext uri="{FF2B5EF4-FFF2-40B4-BE49-F238E27FC236}">
                <a16:creationId xmlns:a16="http://schemas.microsoft.com/office/drawing/2014/main" id="{95246DF1-CF01-4EBD-B5D5-A8456C59B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853" y="1125912"/>
            <a:ext cx="8963025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395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stering RAG: Advanced Chunking Strategies for Vector Databases | by  Subash B S | Medium">
            <a:extLst>
              <a:ext uri="{FF2B5EF4-FFF2-40B4-BE49-F238E27FC236}">
                <a16:creationId xmlns:a16="http://schemas.microsoft.com/office/drawing/2014/main" id="{D6A34D07-6D0F-49D7-8AA2-99D8A14FD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35" y="1310901"/>
            <a:ext cx="10529047" cy="353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377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5F5D4-6872-4B0E-A8BF-44EF6D88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89212"/>
            <a:ext cx="9603275" cy="764542"/>
          </a:xfrm>
        </p:spPr>
        <p:txBody>
          <a:bodyPr/>
          <a:lstStyle/>
          <a:p>
            <a:pPr algn="ctr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Step 4: Handling user queries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EF144-ACA8-412A-A0F2-DD7308342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When a user query enters the system, it must also be converted into an embedding or vector representation.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same model must be used for both the document and query embedding to ensure uniformity between the two.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Once the query is converted into an embedding, the system compares the query embedding with the document embeddings. 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It identifies and retrieves chunks whose embeddings are most similar to the query embedding, using measures such as cosine similarity and Euclidean distance.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These chunks are considered to be the most relevant to the user’s query.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508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9E6A39-4C7E-4E7F-8623-F66641D6A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399" y="564776"/>
            <a:ext cx="9523201" cy="47012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090179E-4618-4C5F-9005-2E39A89F4999}"/>
                  </a:ext>
                </a:extLst>
              </p14:cNvPr>
              <p14:cNvContentPartPr/>
              <p14:nvPr/>
            </p14:nvContentPartPr>
            <p14:xfrm>
              <a:off x="8027661" y="2823522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090179E-4618-4C5F-9005-2E39A89F499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9021" y="281488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6027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C397-0923-434A-8C75-DE613EFB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230" y="1187067"/>
            <a:ext cx="9400197" cy="71075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Step 5: Generating responses with an LLM</a:t>
            </a:r>
            <a:b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0AEC8-7EE8-46CD-99C0-324C8A362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918" y="1976718"/>
            <a:ext cx="9950823" cy="3489627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retrieved text chunks, along with the initial user query, are fed into a language model. The algorithm will use this information to generate a coherent response to the user’s questions through a chat interface.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DA64A-56A6-4B0D-88BE-6BA62785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421" y="3307976"/>
            <a:ext cx="5311589" cy="251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842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Override1.xml><?xml version="1.0" encoding="utf-8"?>
<a:themeOverride xmlns:a="http://schemas.openxmlformats.org/drawingml/2006/main">
  <a:clrScheme name="Gallery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</TotalTime>
  <Words>664</Words>
  <Application>Microsoft Office PowerPoint</Application>
  <PresentationFormat>Widescreen</PresentationFormat>
  <Paragraphs>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Gill Sans MT</vt:lpstr>
      <vt:lpstr>Studio-Feixen-Sans</vt:lpstr>
      <vt:lpstr>Times New Roman</vt:lpstr>
      <vt:lpstr>Gallery</vt:lpstr>
      <vt:lpstr>Retrieval Augmented Generation (RAG)</vt:lpstr>
      <vt:lpstr>What is Retrieval Augmented Generation (RAG)</vt:lpstr>
      <vt:lpstr>Limitations of LLM</vt:lpstr>
      <vt:lpstr>Why Use RAG to Improve LLMs? Example: </vt:lpstr>
      <vt:lpstr>How Does RAG Work?</vt:lpstr>
      <vt:lpstr>Step 1: Data collection</vt:lpstr>
      <vt:lpstr>Step 2: Data chunking</vt:lpstr>
      <vt:lpstr>PowerPoint Presentation</vt:lpstr>
      <vt:lpstr>Step 3: Document embeddings </vt:lpstr>
      <vt:lpstr>PowerPoint Presentation</vt:lpstr>
      <vt:lpstr>PowerPoint Presentation</vt:lpstr>
      <vt:lpstr>Step 4: Handling user queries</vt:lpstr>
      <vt:lpstr>PowerPoint Presentation</vt:lpstr>
      <vt:lpstr>Step 5: Generating responses with an LLM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 Augmented Generation (RAG)</dc:title>
  <dc:creator>Nayana C K</dc:creator>
  <cp:lastModifiedBy>Nayana C K</cp:lastModifiedBy>
  <cp:revision>6</cp:revision>
  <dcterms:created xsi:type="dcterms:W3CDTF">2025-10-18T06:20:15Z</dcterms:created>
  <dcterms:modified xsi:type="dcterms:W3CDTF">2025-11-07T10:50:50Z</dcterms:modified>
</cp:coreProperties>
</file>