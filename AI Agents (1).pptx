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nva Sans" charset="1" panose="020B0503030501040103"/>
      <p:regular r:id="rId15"/>
    </p:embeddedFont>
    <p:embeddedFont>
      <p:font typeface="Montaser Arabic Ultra-Bold" charset="1" panose="00000900000000000000"/>
      <p:regular r:id="rId16"/>
    </p:embeddedFont>
    <p:embeddedFont>
      <p:font typeface="Montserrat" charset="1" panose="00000500000000000000"/>
      <p:regular r:id="rId17"/>
    </p:embeddedFont>
    <p:embeddedFont>
      <p:font typeface="Alice" charset="1" panose="00000500000000000000"/>
      <p:regular r:id="rId18"/>
    </p:embeddedFont>
    <p:embeddedFont>
      <p:font typeface="Montserrat Bold" charset="1" panose="00000800000000000000"/>
      <p:regular r:id="rId19"/>
    </p:embeddedFont>
    <p:embeddedFont>
      <p:font typeface="Montaser Arabic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8.jpeg" Type="http://schemas.openxmlformats.org/officeDocument/2006/relationships/image"/><Relationship Id="rId8" Target="../media/image9.png" Type="http://schemas.openxmlformats.org/officeDocument/2006/relationships/image"/><Relationship Id="rId9"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jpeg" Type="http://schemas.openxmlformats.org/officeDocument/2006/relationships/image"/><Relationship Id="rId6"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2.jpeg" Type="http://schemas.openxmlformats.org/officeDocument/2006/relationships/image"/><Relationship Id="rId6" Target="../media/image13.jpe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jpeg" Type="http://schemas.openxmlformats.org/officeDocument/2006/relationships/image"/><Relationship Id="rId6"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5.jpeg" Type="http://schemas.openxmlformats.org/officeDocument/2006/relationships/image"/><Relationship Id="rId6" Target="../media/image16.jpeg" Type="http://schemas.openxmlformats.org/officeDocument/2006/relationships/image"/><Relationship Id="rId7"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7.jpeg" Type="http://schemas.openxmlformats.org/officeDocument/2006/relationships/image"/><Relationship Id="rId6"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5400" t="-25884" r="-8796" b="0"/>
            </a:stretch>
          </a:blipFill>
        </p:spPr>
      </p:sp>
      <p:grpSp>
        <p:nvGrpSpPr>
          <p:cNvPr name="Group 3" id="3"/>
          <p:cNvGrpSpPr/>
          <p:nvPr/>
        </p:nvGrpSpPr>
        <p:grpSpPr>
          <a:xfrm rot="0">
            <a:off x="0" y="0"/>
            <a:ext cx="12071988" cy="10287000"/>
            <a:chOff x="0" y="0"/>
            <a:chExt cx="3179454" cy="2709333"/>
          </a:xfrm>
        </p:grpSpPr>
        <p:sp>
          <p:nvSpPr>
            <p:cNvPr name="Freeform 4" id="4"/>
            <p:cNvSpPr/>
            <p:nvPr/>
          </p:nvSpPr>
          <p:spPr>
            <a:xfrm flipH="false" flipV="false" rot="0">
              <a:off x="0" y="0"/>
              <a:ext cx="3179454" cy="2709333"/>
            </a:xfrm>
            <a:custGeom>
              <a:avLst/>
              <a:gdLst/>
              <a:ahLst/>
              <a:cxnLst/>
              <a:rect r="r" b="b" t="t" l="l"/>
              <a:pathLst>
                <a:path h="2709333" w="3179454">
                  <a:moveTo>
                    <a:pt x="0" y="0"/>
                  </a:moveTo>
                  <a:lnTo>
                    <a:pt x="3179454" y="0"/>
                  </a:lnTo>
                  <a:lnTo>
                    <a:pt x="3179454" y="2709333"/>
                  </a:lnTo>
                  <a:lnTo>
                    <a:pt x="0" y="2709333"/>
                  </a:lnTo>
                  <a:close/>
                </a:path>
              </a:pathLst>
            </a:custGeom>
            <a:gradFill rotWithShape="true">
              <a:gsLst>
                <a:gs pos="0">
                  <a:srgbClr val="000000">
                    <a:alpha val="100000"/>
                  </a:srgbClr>
                </a:gs>
                <a:gs pos="33333">
                  <a:srgbClr val="000000">
                    <a:alpha val="100000"/>
                  </a:srgbClr>
                </a:gs>
                <a:gs pos="66667">
                  <a:srgbClr val="000000">
                    <a:alpha val="82500"/>
                  </a:srgbClr>
                </a:gs>
                <a:gs pos="100000">
                  <a:srgbClr val="000000">
                    <a:alpha val="0"/>
                  </a:srgbClr>
                </a:gs>
              </a:gsLst>
              <a:lin ang="0"/>
            </a:gradFill>
          </p:spPr>
        </p:sp>
        <p:sp>
          <p:nvSpPr>
            <p:cNvPr name="TextBox 5" id="5"/>
            <p:cNvSpPr txBox="true"/>
            <p:nvPr/>
          </p:nvSpPr>
          <p:spPr>
            <a:xfrm>
              <a:off x="0" y="-19050"/>
              <a:ext cx="3179454" cy="2728383"/>
            </a:xfrm>
            <a:prstGeom prst="rect">
              <a:avLst/>
            </a:prstGeom>
          </p:spPr>
          <p:txBody>
            <a:bodyPr anchor="ctr" rtlCol="false" tIns="50800" lIns="50800" bIns="50800" rIns="50800"/>
            <a:lstStyle/>
            <a:p>
              <a:pPr algn="ctr">
                <a:lnSpc>
                  <a:spcPts val="2898"/>
                </a:lnSpc>
              </a:pPr>
            </a:p>
          </p:txBody>
        </p:sp>
      </p:grpSp>
      <p:grpSp>
        <p:nvGrpSpPr>
          <p:cNvPr name="Group 6" id="6"/>
          <p:cNvGrpSpPr/>
          <p:nvPr/>
        </p:nvGrpSpPr>
        <p:grpSpPr>
          <a:xfrm rot="0">
            <a:off x="1028700" y="7428360"/>
            <a:ext cx="6251271" cy="840036"/>
            <a:chOff x="0" y="0"/>
            <a:chExt cx="3024294" cy="406400"/>
          </a:xfrm>
        </p:grpSpPr>
        <p:sp>
          <p:nvSpPr>
            <p:cNvPr name="Freeform 7" id="7"/>
            <p:cNvSpPr/>
            <p:nvPr/>
          </p:nvSpPr>
          <p:spPr>
            <a:xfrm flipH="false" flipV="false" rot="0">
              <a:off x="0" y="0"/>
              <a:ext cx="3024294" cy="406400"/>
            </a:xfrm>
            <a:custGeom>
              <a:avLst/>
              <a:gdLst/>
              <a:ahLst/>
              <a:cxnLst/>
              <a:rect r="r" b="b" t="t" l="l"/>
              <a:pathLst>
                <a:path h="406400" w="3024294">
                  <a:moveTo>
                    <a:pt x="2821094" y="0"/>
                  </a:moveTo>
                  <a:cubicBezTo>
                    <a:pt x="2933318" y="0"/>
                    <a:pt x="3024294" y="90976"/>
                    <a:pt x="3024294" y="203200"/>
                  </a:cubicBezTo>
                  <a:cubicBezTo>
                    <a:pt x="3024294" y="315424"/>
                    <a:pt x="2933318" y="406400"/>
                    <a:pt x="282109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66675"/>
              <a:ext cx="3024294" cy="473075"/>
            </a:xfrm>
            <a:prstGeom prst="rect">
              <a:avLst/>
            </a:prstGeom>
          </p:spPr>
          <p:txBody>
            <a:bodyPr anchor="ctr" rtlCol="false" tIns="50800" lIns="50800" bIns="50800" rIns="50800"/>
            <a:lstStyle/>
            <a:p>
              <a:pPr algn="ctr">
                <a:lnSpc>
                  <a:spcPts val="4900"/>
                </a:lnSpc>
                <a:spcBef>
                  <a:spcPct val="0"/>
                </a:spcBef>
              </a:pPr>
              <a:r>
                <a:rPr lang="en-US" sz="3500">
                  <a:solidFill>
                    <a:srgbClr val="FFFFFF"/>
                  </a:solidFill>
                  <a:latin typeface="Canva Sans"/>
                  <a:ea typeface="Canva Sans"/>
                  <a:cs typeface="Canva Sans"/>
                  <a:sym typeface="Canva Sans"/>
                </a:rPr>
                <a:t>www.galtechlearning.com</a:t>
              </a:r>
            </a:p>
          </p:txBody>
        </p:sp>
      </p:grpSp>
      <p:sp>
        <p:nvSpPr>
          <p:cNvPr name="Freeform 9" id="9"/>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3129129"/>
            <a:ext cx="9403291" cy="2470151"/>
          </a:xfrm>
          <a:prstGeom prst="rect">
            <a:avLst/>
          </a:prstGeom>
        </p:spPr>
        <p:txBody>
          <a:bodyPr anchor="t" rtlCol="false" tIns="0" lIns="0" bIns="0" rIns="0">
            <a:spAutoFit/>
          </a:bodyPr>
          <a:lstStyle/>
          <a:p>
            <a:pPr algn="l">
              <a:lnSpc>
                <a:spcPts val="20299"/>
              </a:lnSpc>
              <a:spcBef>
                <a:spcPct val="0"/>
              </a:spcBef>
            </a:pPr>
            <a:r>
              <a:rPr lang="en-US" sz="14499" b="true">
                <a:solidFill>
                  <a:srgbClr val="FFFFFF"/>
                </a:solidFill>
                <a:latin typeface="Montaser Arabic Ultra-Bold"/>
                <a:ea typeface="Montaser Arabic Ultra-Bold"/>
                <a:cs typeface="Montaser Arabic Ultra-Bold"/>
                <a:sym typeface="Montaser Arabic Ultra-Bold"/>
              </a:rPr>
              <a:t>AI Agents</a:t>
            </a:r>
          </a:p>
        </p:txBody>
      </p:sp>
      <p:sp>
        <p:nvSpPr>
          <p:cNvPr name="TextBox 11" id="11"/>
          <p:cNvSpPr txBox="true"/>
          <p:nvPr/>
        </p:nvSpPr>
        <p:spPr>
          <a:xfrm rot="0">
            <a:off x="1028700" y="5570704"/>
            <a:ext cx="9403291" cy="476530"/>
          </a:xfrm>
          <a:prstGeom prst="rect">
            <a:avLst/>
          </a:prstGeom>
        </p:spPr>
        <p:txBody>
          <a:bodyPr anchor="t" rtlCol="false" tIns="0" lIns="0" bIns="0" rIns="0">
            <a:spAutoFit/>
          </a:bodyPr>
          <a:lstStyle/>
          <a:p>
            <a:pPr algn="l">
              <a:lnSpc>
                <a:spcPts val="3871"/>
              </a:lnSpc>
            </a:pPr>
            <a:r>
              <a:rPr lang="en-US" sz="2977">
                <a:solidFill>
                  <a:srgbClr val="FFFFFF"/>
                </a:solidFill>
                <a:latin typeface="Montserrat"/>
                <a:ea typeface="Montserrat"/>
                <a:cs typeface="Montserrat"/>
                <a:sym typeface="Montserrat"/>
              </a:rPr>
              <a:t>Shaping the Future of Intelligent Automation</a:t>
            </a:r>
          </a:p>
        </p:txBody>
      </p:sp>
      <p:sp>
        <p:nvSpPr>
          <p:cNvPr name="Freeform 12" id="12"/>
          <p:cNvSpPr/>
          <p:nvPr/>
        </p:nvSpPr>
        <p:spPr>
          <a:xfrm flipH="false" flipV="false" rot="0">
            <a:off x="1028700" y="1028700"/>
            <a:ext cx="3709257" cy="982953"/>
          </a:xfrm>
          <a:custGeom>
            <a:avLst/>
            <a:gdLst/>
            <a:ahLst/>
            <a:cxnLst/>
            <a:rect r="r" b="b" t="t" l="l"/>
            <a:pathLst>
              <a:path h="982953" w="3709257">
                <a:moveTo>
                  <a:pt x="0" y="0"/>
                </a:moveTo>
                <a:lnTo>
                  <a:pt x="3709257" y="0"/>
                </a:lnTo>
                <a:lnTo>
                  <a:pt x="3709257" y="982953"/>
                </a:lnTo>
                <a:lnTo>
                  <a:pt x="0" y="982953"/>
                </a:lnTo>
                <a:lnTo>
                  <a:pt x="0" y="0"/>
                </a:lnTo>
                <a:close/>
              </a:path>
            </a:pathLst>
          </a:custGeom>
          <a:blipFill>
            <a:blip r:embed="rId5"/>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grpSp>
        <p:nvGrpSpPr>
          <p:cNvPr name="Group 3" id="3"/>
          <p:cNvGrpSpPr/>
          <p:nvPr/>
        </p:nvGrpSpPr>
        <p:grpSpPr>
          <a:xfrm rot="0">
            <a:off x="8872115" y="4692029"/>
            <a:ext cx="8387185" cy="673937"/>
            <a:chOff x="0" y="0"/>
            <a:chExt cx="5057675" cy="406400"/>
          </a:xfrm>
        </p:grpSpPr>
        <p:sp>
          <p:nvSpPr>
            <p:cNvPr name="Freeform 4" id="4"/>
            <p:cNvSpPr/>
            <p:nvPr/>
          </p:nvSpPr>
          <p:spPr>
            <a:xfrm flipH="false" flipV="false" rot="0">
              <a:off x="0" y="0"/>
              <a:ext cx="5057675" cy="406400"/>
            </a:xfrm>
            <a:custGeom>
              <a:avLst/>
              <a:gdLst/>
              <a:ahLst/>
              <a:cxnLst/>
              <a:rect r="r" b="b" t="t" l="l"/>
              <a:pathLst>
                <a:path h="406400" w="5057675">
                  <a:moveTo>
                    <a:pt x="4854475" y="0"/>
                  </a:moveTo>
                  <a:cubicBezTo>
                    <a:pt x="4966699" y="0"/>
                    <a:pt x="5057675" y="90976"/>
                    <a:pt x="5057675" y="203200"/>
                  </a:cubicBezTo>
                  <a:cubicBezTo>
                    <a:pt x="5057675" y="315424"/>
                    <a:pt x="4966699" y="406400"/>
                    <a:pt x="485447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5" id="5"/>
            <p:cNvSpPr txBox="true"/>
            <p:nvPr/>
          </p:nvSpPr>
          <p:spPr>
            <a:xfrm>
              <a:off x="0" y="-38100"/>
              <a:ext cx="5057675"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8872115" y="5916085"/>
            <a:ext cx="8387185" cy="673937"/>
            <a:chOff x="0" y="0"/>
            <a:chExt cx="5057675" cy="406400"/>
          </a:xfrm>
        </p:grpSpPr>
        <p:sp>
          <p:nvSpPr>
            <p:cNvPr name="Freeform 7" id="7"/>
            <p:cNvSpPr/>
            <p:nvPr/>
          </p:nvSpPr>
          <p:spPr>
            <a:xfrm flipH="false" flipV="false" rot="0">
              <a:off x="0" y="0"/>
              <a:ext cx="5057675" cy="406400"/>
            </a:xfrm>
            <a:custGeom>
              <a:avLst/>
              <a:gdLst/>
              <a:ahLst/>
              <a:cxnLst/>
              <a:rect r="r" b="b" t="t" l="l"/>
              <a:pathLst>
                <a:path h="406400" w="5057675">
                  <a:moveTo>
                    <a:pt x="4854475" y="0"/>
                  </a:moveTo>
                  <a:cubicBezTo>
                    <a:pt x="4966699" y="0"/>
                    <a:pt x="5057675" y="90976"/>
                    <a:pt x="5057675" y="203200"/>
                  </a:cubicBezTo>
                  <a:cubicBezTo>
                    <a:pt x="5057675" y="315424"/>
                    <a:pt x="4966699" y="406400"/>
                    <a:pt x="485447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38100"/>
              <a:ext cx="5057675"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9067254" y="4865137"/>
            <a:ext cx="327720" cy="327720"/>
          </a:xfrm>
          <a:custGeom>
            <a:avLst/>
            <a:gdLst/>
            <a:ahLst/>
            <a:cxnLst/>
            <a:rect r="r" b="b" t="t" l="l"/>
            <a:pathLst>
              <a:path h="327720" w="327720">
                <a:moveTo>
                  <a:pt x="0" y="0"/>
                </a:moveTo>
                <a:lnTo>
                  <a:pt x="327720" y="0"/>
                </a:lnTo>
                <a:lnTo>
                  <a:pt x="327720" y="327720"/>
                </a:lnTo>
                <a:lnTo>
                  <a:pt x="0" y="3277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067254" y="6051027"/>
            <a:ext cx="327720" cy="327720"/>
          </a:xfrm>
          <a:custGeom>
            <a:avLst/>
            <a:gdLst/>
            <a:ahLst/>
            <a:cxnLst/>
            <a:rect r="r" b="b" t="t" l="l"/>
            <a:pathLst>
              <a:path h="327720" w="327720">
                <a:moveTo>
                  <a:pt x="0" y="0"/>
                </a:moveTo>
                <a:lnTo>
                  <a:pt x="327720" y="0"/>
                </a:lnTo>
                <a:lnTo>
                  <a:pt x="327720" y="327720"/>
                </a:lnTo>
                <a:lnTo>
                  <a:pt x="0" y="3277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5">
              <a:alphaModFix amt="90000"/>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1028700" y="3017713"/>
            <a:ext cx="7146138" cy="4930936"/>
            <a:chOff x="0" y="0"/>
            <a:chExt cx="1107124" cy="763931"/>
          </a:xfrm>
        </p:grpSpPr>
        <p:sp>
          <p:nvSpPr>
            <p:cNvPr name="Freeform 13" id="13"/>
            <p:cNvSpPr/>
            <p:nvPr/>
          </p:nvSpPr>
          <p:spPr>
            <a:xfrm flipH="false" flipV="false" rot="0">
              <a:off x="0" y="0"/>
              <a:ext cx="1107124" cy="763931"/>
            </a:xfrm>
            <a:custGeom>
              <a:avLst/>
              <a:gdLst/>
              <a:ahLst/>
              <a:cxnLst/>
              <a:rect r="r" b="b" t="t" l="l"/>
              <a:pathLst>
                <a:path h="763931" w="1107124">
                  <a:moveTo>
                    <a:pt x="60669" y="0"/>
                  </a:moveTo>
                  <a:lnTo>
                    <a:pt x="1046455" y="0"/>
                  </a:lnTo>
                  <a:cubicBezTo>
                    <a:pt x="1079961" y="0"/>
                    <a:pt x="1107124" y="27162"/>
                    <a:pt x="1107124" y="60669"/>
                  </a:cubicBezTo>
                  <a:lnTo>
                    <a:pt x="1107124" y="703262"/>
                  </a:lnTo>
                  <a:cubicBezTo>
                    <a:pt x="1107124" y="719353"/>
                    <a:pt x="1100732" y="734784"/>
                    <a:pt x="1089354" y="746162"/>
                  </a:cubicBezTo>
                  <a:cubicBezTo>
                    <a:pt x="1077977" y="757539"/>
                    <a:pt x="1062545" y="763931"/>
                    <a:pt x="1046455" y="763931"/>
                  </a:cubicBezTo>
                  <a:lnTo>
                    <a:pt x="60669" y="763931"/>
                  </a:lnTo>
                  <a:cubicBezTo>
                    <a:pt x="44578" y="763931"/>
                    <a:pt x="29147" y="757539"/>
                    <a:pt x="17769" y="746162"/>
                  </a:cubicBezTo>
                  <a:cubicBezTo>
                    <a:pt x="6392" y="734784"/>
                    <a:pt x="0" y="719353"/>
                    <a:pt x="0" y="703262"/>
                  </a:cubicBezTo>
                  <a:lnTo>
                    <a:pt x="0" y="60669"/>
                  </a:lnTo>
                  <a:cubicBezTo>
                    <a:pt x="0" y="44578"/>
                    <a:pt x="6392" y="29147"/>
                    <a:pt x="17769" y="17769"/>
                  </a:cubicBezTo>
                  <a:cubicBezTo>
                    <a:pt x="29147" y="6392"/>
                    <a:pt x="44578" y="0"/>
                    <a:pt x="60669" y="0"/>
                  </a:cubicBezTo>
                  <a:close/>
                </a:path>
              </a:pathLst>
            </a:custGeom>
            <a:blipFill>
              <a:blip r:embed="rId7"/>
              <a:stretch>
                <a:fillRect l="0" t="-542" r="0" b="-542"/>
              </a:stretch>
            </a:blipFill>
          </p:spPr>
        </p:sp>
      </p:grpSp>
      <p:sp>
        <p:nvSpPr>
          <p:cNvPr name="Freeform 14" id="1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5">
              <a:alphaModFix amt="90000"/>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8872115" y="3019582"/>
            <a:ext cx="6538842" cy="1184012"/>
          </a:xfrm>
          <a:prstGeom prst="rect">
            <a:avLst/>
          </a:prstGeom>
        </p:spPr>
        <p:txBody>
          <a:bodyPr anchor="t" rtlCol="false" tIns="0" lIns="0" bIns="0" rIns="0">
            <a:spAutoFit/>
          </a:bodyPr>
          <a:lstStyle/>
          <a:p>
            <a:pPr algn="l">
              <a:lnSpc>
                <a:spcPts val="9657"/>
              </a:lnSpc>
              <a:spcBef>
                <a:spcPct val="0"/>
              </a:spcBef>
            </a:pPr>
            <a:r>
              <a:rPr lang="en-US" sz="6898" b="true">
                <a:solidFill>
                  <a:srgbClr val="FFFFFF"/>
                </a:solidFill>
                <a:latin typeface="Montaser Arabic Ultra-Bold"/>
                <a:ea typeface="Montaser Arabic Ultra-Bold"/>
                <a:cs typeface="Montaser Arabic Ultra-Bold"/>
                <a:sym typeface="Montaser Arabic Ultra-Bold"/>
              </a:rPr>
              <a:t>Agenda</a:t>
            </a:r>
          </a:p>
        </p:txBody>
      </p:sp>
      <p:sp>
        <p:nvSpPr>
          <p:cNvPr name="Freeform 16" id="16"/>
          <p:cNvSpPr/>
          <p:nvPr/>
        </p:nvSpPr>
        <p:spPr>
          <a:xfrm flipH="false" flipV="false" rot="0">
            <a:off x="12141536" y="6051027"/>
            <a:ext cx="5335509" cy="933714"/>
          </a:xfrm>
          <a:custGeom>
            <a:avLst/>
            <a:gdLst/>
            <a:ahLst/>
            <a:cxnLst/>
            <a:rect r="r" b="b" t="t" l="l"/>
            <a:pathLst>
              <a:path h="933714" w="5335509">
                <a:moveTo>
                  <a:pt x="0" y="0"/>
                </a:moveTo>
                <a:lnTo>
                  <a:pt x="5335509" y="0"/>
                </a:lnTo>
                <a:lnTo>
                  <a:pt x="5335509" y="933714"/>
                </a:lnTo>
                <a:lnTo>
                  <a:pt x="0" y="933714"/>
                </a:lnTo>
                <a:lnTo>
                  <a:pt x="0" y="0"/>
                </a:lnTo>
                <a:close/>
              </a:path>
            </a:pathLst>
          </a:custGeom>
          <a:blipFill>
            <a:blip r:embed="rId8"/>
            <a:stretch>
              <a:fillRect l="0" t="0" r="0" b="0"/>
            </a:stretch>
          </a:blipFill>
        </p:spPr>
      </p:sp>
      <p:sp>
        <p:nvSpPr>
          <p:cNvPr name="Freeform 17" id="17"/>
          <p:cNvSpPr/>
          <p:nvPr/>
        </p:nvSpPr>
        <p:spPr>
          <a:xfrm flipH="false" flipV="false" rot="0">
            <a:off x="8872115" y="4203594"/>
            <a:ext cx="5558252" cy="972694"/>
          </a:xfrm>
          <a:custGeom>
            <a:avLst/>
            <a:gdLst/>
            <a:ahLst/>
            <a:cxnLst/>
            <a:rect r="r" b="b" t="t" l="l"/>
            <a:pathLst>
              <a:path h="972694" w="5558252">
                <a:moveTo>
                  <a:pt x="0" y="0"/>
                </a:moveTo>
                <a:lnTo>
                  <a:pt x="5558252" y="0"/>
                </a:lnTo>
                <a:lnTo>
                  <a:pt x="5558252" y="972694"/>
                </a:lnTo>
                <a:lnTo>
                  <a:pt x="0" y="972694"/>
                </a:lnTo>
                <a:lnTo>
                  <a:pt x="0" y="0"/>
                </a:lnTo>
                <a:close/>
              </a:path>
            </a:pathLst>
          </a:custGeom>
          <a:blipFill>
            <a:blip r:embed="rId8"/>
            <a:stretch>
              <a:fillRect l="0" t="0" r="0" b="0"/>
            </a:stretch>
          </a:blipFill>
        </p:spPr>
      </p:sp>
      <p:sp>
        <p:nvSpPr>
          <p:cNvPr name="TextBox 18" id="18"/>
          <p:cNvSpPr txBox="true"/>
          <p:nvPr/>
        </p:nvSpPr>
        <p:spPr>
          <a:xfrm rot="0">
            <a:off x="9560445" y="4798395"/>
            <a:ext cx="6377314" cy="432628"/>
          </a:xfrm>
          <a:prstGeom prst="rect">
            <a:avLst/>
          </a:prstGeom>
        </p:spPr>
        <p:txBody>
          <a:bodyPr anchor="t" rtlCol="false" tIns="0" lIns="0" bIns="0" rIns="0">
            <a:spAutoFit/>
          </a:bodyPr>
          <a:lstStyle/>
          <a:p>
            <a:pPr algn="just">
              <a:lnSpc>
                <a:spcPts val="3455"/>
              </a:lnSpc>
            </a:pPr>
            <a:r>
              <a:rPr lang="en-US" sz="2658">
                <a:solidFill>
                  <a:srgbClr val="FFFFFF"/>
                </a:solidFill>
                <a:latin typeface="Montserrat"/>
                <a:ea typeface="Montserrat"/>
                <a:cs typeface="Montserrat"/>
                <a:sym typeface="Montserrat"/>
              </a:rPr>
              <a:t>Introduction to AI Agents</a:t>
            </a:r>
          </a:p>
        </p:txBody>
      </p:sp>
      <p:sp>
        <p:nvSpPr>
          <p:cNvPr name="TextBox 19" id="19"/>
          <p:cNvSpPr txBox="true"/>
          <p:nvPr/>
        </p:nvSpPr>
        <p:spPr>
          <a:xfrm rot="0">
            <a:off x="9560445" y="6022452"/>
            <a:ext cx="6377314" cy="432628"/>
          </a:xfrm>
          <a:prstGeom prst="rect">
            <a:avLst/>
          </a:prstGeom>
        </p:spPr>
        <p:txBody>
          <a:bodyPr anchor="t" rtlCol="false" tIns="0" lIns="0" bIns="0" rIns="0">
            <a:spAutoFit/>
          </a:bodyPr>
          <a:lstStyle/>
          <a:p>
            <a:pPr algn="just">
              <a:lnSpc>
                <a:spcPts val="3455"/>
              </a:lnSpc>
            </a:pPr>
            <a:r>
              <a:rPr lang="en-US" sz="2658">
                <a:solidFill>
                  <a:srgbClr val="FFFFFF"/>
                </a:solidFill>
                <a:latin typeface="Montserrat"/>
                <a:ea typeface="Montserrat"/>
                <a:cs typeface="Montserrat"/>
                <a:sym typeface="Montserrat"/>
              </a:rPr>
              <a:t>Real-time Applications</a:t>
            </a:r>
          </a:p>
        </p:txBody>
      </p:sp>
      <p:sp>
        <p:nvSpPr>
          <p:cNvPr name="Freeform 20" id="20"/>
          <p:cNvSpPr/>
          <p:nvPr/>
        </p:nvSpPr>
        <p:spPr>
          <a:xfrm flipH="false" flipV="false" rot="0">
            <a:off x="1028700" y="1028700"/>
            <a:ext cx="3709257" cy="982953"/>
          </a:xfrm>
          <a:custGeom>
            <a:avLst/>
            <a:gdLst/>
            <a:ahLst/>
            <a:cxnLst/>
            <a:rect r="r" b="b" t="t" l="l"/>
            <a:pathLst>
              <a:path h="982953" w="3709257">
                <a:moveTo>
                  <a:pt x="0" y="0"/>
                </a:moveTo>
                <a:lnTo>
                  <a:pt x="3709257" y="0"/>
                </a:lnTo>
                <a:lnTo>
                  <a:pt x="3709257" y="982953"/>
                </a:lnTo>
                <a:lnTo>
                  <a:pt x="0" y="982953"/>
                </a:lnTo>
                <a:lnTo>
                  <a:pt x="0" y="0"/>
                </a:lnTo>
                <a:close/>
              </a:path>
            </a:pathLst>
          </a:custGeom>
          <a:blipFill>
            <a:blip r:embed="rId9"/>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474422" y="4084647"/>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1825926" y="-214484"/>
            <a:ext cx="5787173" cy="4969108"/>
            <a:chOff x="0" y="0"/>
            <a:chExt cx="896585" cy="769845"/>
          </a:xfrm>
        </p:grpSpPr>
        <p:sp>
          <p:nvSpPr>
            <p:cNvPr name="Freeform 7" id="7"/>
            <p:cNvSpPr/>
            <p:nvPr/>
          </p:nvSpPr>
          <p:spPr>
            <a:xfrm flipH="false" flipV="false" rot="0">
              <a:off x="0" y="0"/>
              <a:ext cx="896585" cy="769845"/>
            </a:xfrm>
            <a:custGeom>
              <a:avLst/>
              <a:gdLst/>
              <a:ahLst/>
              <a:cxnLst/>
              <a:rect r="r" b="b" t="t" l="l"/>
              <a:pathLst>
                <a:path h="769845" w="896585">
                  <a:moveTo>
                    <a:pt x="74915" y="0"/>
                  </a:moveTo>
                  <a:lnTo>
                    <a:pt x="821669" y="0"/>
                  </a:lnTo>
                  <a:cubicBezTo>
                    <a:pt x="841538" y="0"/>
                    <a:pt x="860593" y="7893"/>
                    <a:pt x="874642" y="21942"/>
                  </a:cubicBezTo>
                  <a:cubicBezTo>
                    <a:pt x="888692" y="35992"/>
                    <a:pt x="896585" y="55046"/>
                    <a:pt x="896585" y="74915"/>
                  </a:cubicBezTo>
                  <a:lnTo>
                    <a:pt x="896585" y="694930"/>
                  </a:lnTo>
                  <a:cubicBezTo>
                    <a:pt x="896585" y="736304"/>
                    <a:pt x="863044" y="769845"/>
                    <a:pt x="821669" y="769845"/>
                  </a:cubicBezTo>
                  <a:lnTo>
                    <a:pt x="74915" y="769845"/>
                  </a:lnTo>
                  <a:cubicBezTo>
                    <a:pt x="33541" y="769845"/>
                    <a:pt x="0" y="736304"/>
                    <a:pt x="0" y="694930"/>
                  </a:cubicBezTo>
                  <a:lnTo>
                    <a:pt x="0" y="74915"/>
                  </a:lnTo>
                  <a:cubicBezTo>
                    <a:pt x="0" y="33541"/>
                    <a:pt x="33541" y="0"/>
                    <a:pt x="74915" y="0"/>
                  </a:cubicBezTo>
                  <a:close/>
                </a:path>
              </a:pathLst>
            </a:custGeom>
            <a:blipFill>
              <a:blip r:embed="rId5"/>
              <a:stretch>
                <a:fillRect l="-6120" t="0" r="-6120" b="0"/>
              </a:stretch>
            </a:blipFill>
          </p:spPr>
        </p:sp>
      </p:grpSp>
      <p:grpSp>
        <p:nvGrpSpPr>
          <p:cNvPr name="Group 8" id="8"/>
          <p:cNvGrpSpPr/>
          <p:nvPr/>
        </p:nvGrpSpPr>
        <p:grpSpPr>
          <a:xfrm rot="0">
            <a:off x="11825926" y="4445167"/>
            <a:ext cx="4299005" cy="2983601"/>
            <a:chOff x="0" y="0"/>
            <a:chExt cx="999406" cy="693609"/>
          </a:xfrm>
        </p:grpSpPr>
        <p:sp>
          <p:nvSpPr>
            <p:cNvPr name="Freeform 9" id="9"/>
            <p:cNvSpPr/>
            <p:nvPr/>
          </p:nvSpPr>
          <p:spPr>
            <a:xfrm flipH="false" flipV="false" rot="0">
              <a:off x="0" y="0"/>
              <a:ext cx="999406" cy="693609"/>
            </a:xfrm>
            <a:custGeom>
              <a:avLst/>
              <a:gdLst/>
              <a:ahLst/>
              <a:cxnLst/>
              <a:rect r="r" b="b" t="t" l="l"/>
              <a:pathLst>
                <a:path h="693609" w="999406">
                  <a:moveTo>
                    <a:pt x="100848" y="0"/>
                  </a:moveTo>
                  <a:lnTo>
                    <a:pt x="898558" y="0"/>
                  </a:lnTo>
                  <a:cubicBezTo>
                    <a:pt x="954255" y="0"/>
                    <a:pt x="999406" y="45151"/>
                    <a:pt x="999406" y="100848"/>
                  </a:cubicBezTo>
                  <a:lnTo>
                    <a:pt x="999406" y="592761"/>
                  </a:lnTo>
                  <a:cubicBezTo>
                    <a:pt x="999406" y="648458"/>
                    <a:pt x="954255" y="693609"/>
                    <a:pt x="898558" y="693609"/>
                  </a:cubicBezTo>
                  <a:lnTo>
                    <a:pt x="100848" y="693609"/>
                  </a:lnTo>
                  <a:cubicBezTo>
                    <a:pt x="45151" y="693609"/>
                    <a:pt x="0" y="648458"/>
                    <a:pt x="0" y="592761"/>
                  </a:cubicBezTo>
                  <a:lnTo>
                    <a:pt x="0" y="100848"/>
                  </a:lnTo>
                  <a:cubicBezTo>
                    <a:pt x="0" y="45151"/>
                    <a:pt x="45151" y="0"/>
                    <a:pt x="100848" y="0"/>
                  </a:cubicBezTo>
                  <a:close/>
                </a:path>
              </a:pathLst>
            </a:custGeom>
            <a:blipFill>
              <a:blip r:embed="rId6"/>
              <a:stretch>
                <a:fillRect l="-85367" t="-33359" r="0" b="-44589"/>
              </a:stretch>
            </a:blipFill>
          </p:spPr>
        </p:sp>
      </p:grpSp>
      <p:sp>
        <p:nvSpPr>
          <p:cNvPr name="TextBox 10" id="10"/>
          <p:cNvSpPr txBox="true"/>
          <p:nvPr/>
        </p:nvSpPr>
        <p:spPr>
          <a:xfrm rot="0">
            <a:off x="1961088" y="1741155"/>
            <a:ext cx="7706404" cy="953053"/>
          </a:xfrm>
          <a:prstGeom prst="rect">
            <a:avLst/>
          </a:prstGeom>
        </p:spPr>
        <p:txBody>
          <a:bodyPr anchor="t" rtlCol="false" tIns="0" lIns="0" bIns="0" rIns="0">
            <a:spAutoFit/>
          </a:bodyPr>
          <a:lstStyle/>
          <a:p>
            <a:pPr algn="l">
              <a:lnSpc>
                <a:spcPts val="7844"/>
              </a:lnSpc>
              <a:spcBef>
                <a:spcPct val="0"/>
              </a:spcBef>
            </a:pPr>
            <a:r>
              <a:rPr lang="en-US" sz="5603" b="true">
                <a:solidFill>
                  <a:srgbClr val="FFFFFF"/>
                </a:solidFill>
                <a:latin typeface="Montaser Arabic Ultra-Bold"/>
                <a:ea typeface="Montaser Arabic Ultra-Bold"/>
                <a:cs typeface="Montaser Arabic Ultra-Bold"/>
                <a:sym typeface="Montaser Arabic Ultra-Bold"/>
              </a:rPr>
              <a:t>What are AI Agents?</a:t>
            </a:r>
          </a:p>
        </p:txBody>
      </p:sp>
      <p:sp>
        <p:nvSpPr>
          <p:cNvPr name="TextBox 11" id="11"/>
          <p:cNvSpPr txBox="true"/>
          <p:nvPr/>
        </p:nvSpPr>
        <p:spPr>
          <a:xfrm rot="0">
            <a:off x="821503" y="3625617"/>
            <a:ext cx="10441246" cy="2776220"/>
          </a:xfrm>
          <a:prstGeom prst="rect">
            <a:avLst/>
          </a:prstGeom>
        </p:spPr>
        <p:txBody>
          <a:bodyPr anchor="t" rtlCol="false" tIns="0" lIns="0" bIns="0" rIns="0">
            <a:spAutoFit/>
          </a:bodyPr>
          <a:lstStyle/>
          <a:p>
            <a:pPr algn="just">
              <a:lnSpc>
                <a:spcPts val="4419"/>
              </a:lnSpc>
            </a:pPr>
            <a:r>
              <a:rPr lang="en-US" sz="3399">
                <a:solidFill>
                  <a:srgbClr val="FFFFFF"/>
                </a:solidFill>
                <a:latin typeface="Alice"/>
                <a:ea typeface="Alice"/>
                <a:cs typeface="Alice"/>
                <a:sym typeface="Alice"/>
              </a:rPr>
              <a:t>AI agents are systems that perceive their environment, reason about it, and take action to achieve specific goals, often utilising artificial intelligence techniques such as machine learning, natural language processing, or planning algorithms.</a:t>
            </a:r>
          </a:p>
        </p:txBody>
      </p:sp>
      <p:sp>
        <p:nvSpPr>
          <p:cNvPr name="Freeform 12" id="12"/>
          <p:cNvSpPr/>
          <p:nvPr/>
        </p:nvSpPr>
        <p:spPr>
          <a:xfrm flipH="false" flipV="false" rot="0">
            <a:off x="821503" y="45747"/>
            <a:ext cx="3709257" cy="982953"/>
          </a:xfrm>
          <a:custGeom>
            <a:avLst/>
            <a:gdLst/>
            <a:ahLst/>
            <a:cxnLst/>
            <a:rect r="r" b="b" t="t" l="l"/>
            <a:pathLst>
              <a:path h="982953" w="3709257">
                <a:moveTo>
                  <a:pt x="0" y="0"/>
                </a:moveTo>
                <a:lnTo>
                  <a:pt x="3709256" y="0"/>
                </a:lnTo>
                <a:lnTo>
                  <a:pt x="3709256" y="982953"/>
                </a:lnTo>
                <a:lnTo>
                  <a:pt x="0" y="982953"/>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474422" y="4084647"/>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2150174" y="551202"/>
            <a:ext cx="5787173" cy="4969108"/>
            <a:chOff x="0" y="0"/>
            <a:chExt cx="896585" cy="769845"/>
          </a:xfrm>
        </p:grpSpPr>
        <p:sp>
          <p:nvSpPr>
            <p:cNvPr name="Freeform 7" id="7"/>
            <p:cNvSpPr/>
            <p:nvPr/>
          </p:nvSpPr>
          <p:spPr>
            <a:xfrm flipH="false" flipV="false" rot="0">
              <a:off x="0" y="0"/>
              <a:ext cx="896585" cy="769845"/>
            </a:xfrm>
            <a:custGeom>
              <a:avLst/>
              <a:gdLst/>
              <a:ahLst/>
              <a:cxnLst/>
              <a:rect r="r" b="b" t="t" l="l"/>
              <a:pathLst>
                <a:path h="769845" w="896585">
                  <a:moveTo>
                    <a:pt x="74915" y="0"/>
                  </a:moveTo>
                  <a:lnTo>
                    <a:pt x="821669" y="0"/>
                  </a:lnTo>
                  <a:cubicBezTo>
                    <a:pt x="841538" y="0"/>
                    <a:pt x="860593" y="7893"/>
                    <a:pt x="874642" y="21942"/>
                  </a:cubicBezTo>
                  <a:cubicBezTo>
                    <a:pt x="888692" y="35992"/>
                    <a:pt x="896585" y="55046"/>
                    <a:pt x="896585" y="74915"/>
                  </a:cubicBezTo>
                  <a:lnTo>
                    <a:pt x="896585" y="694930"/>
                  </a:lnTo>
                  <a:cubicBezTo>
                    <a:pt x="896585" y="736304"/>
                    <a:pt x="863044" y="769845"/>
                    <a:pt x="821669" y="769845"/>
                  </a:cubicBezTo>
                  <a:lnTo>
                    <a:pt x="74915" y="769845"/>
                  </a:lnTo>
                  <a:cubicBezTo>
                    <a:pt x="33541" y="769845"/>
                    <a:pt x="0" y="736304"/>
                    <a:pt x="0" y="694930"/>
                  </a:cubicBezTo>
                  <a:lnTo>
                    <a:pt x="0" y="74915"/>
                  </a:lnTo>
                  <a:cubicBezTo>
                    <a:pt x="0" y="33541"/>
                    <a:pt x="33541" y="0"/>
                    <a:pt x="74915" y="0"/>
                  </a:cubicBezTo>
                  <a:close/>
                </a:path>
              </a:pathLst>
            </a:custGeom>
            <a:blipFill>
              <a:blip r:embed="rId5"/>
              <a:stretch>
                <a:fillRect l="-6120" t="0" r="-6120" b="0"/>
              </a:stretch>
            </a:blipFill>
          </p:spPr>
        </p:sp>
      </p:grpSp>
      <p:sp>
        <p:nvSpPr>
          <p:cNvPr name="TextBox 8" id="8"/>
          <p:cNvSpPr txBox="true"/>
          <p:nvPr/>
        </p:nvSpPr>
        <p:spPr>
          <a:xfrm rot="0">
            <a:off x="1437596" y="1612580"/>
            <a:ext cx="7706404" cy="953053"/>
          </a:xfrm>
          <a:prstGeom prst="rect">
            <a:avLst/>
          </a:prstGeom>
        </p:spPr>
        <p:txBody>
          <a:bodyPr anchor="t" rtlCol="false" tIns="0" lIns="0" bIns="0" rIns="0">
            <a:spAutoFit/>
          </a:bodyPr>
          <a:lstStyle/>
          <a:p>
            <a:pPr algn="l">
              <a:lnSpc>
                <a:spcPts val="7844"/>
              </a:lnSpc>
              <a:spcBef>
                <a:spcPct val="0"/>
              </a:spcBef>
            </a:pPr>
            <a:r>
              <a:rPr lang="en-US" sz="5603" b="true">
                <a:solidFill>
                  <a:srgbClr val="FFFFFF"/>
                </a:solidFill>
                <a:latin typeface="Montaser Arabic Ultra-Bold"/>
                <a:ea typeface="Montaser Arabic Ultra-Bold"/>
                <a:cs typeface="Montaser Arabic Ultra-Bold"/>
                <a:sym typeface="Montaser Arabic Ultra-Bold"/>
              </a:rPr>
              <a:t>What are AI Agents?</a:t>
            </a:r>
          </a:p>
        </p:txBody>
      </p:sp>
      <p:sp>
        <p:nvSpPr>
          <p:cNvPr name="TextBox 9" id="9"/>
          <p:cNvSpPr txBox="true"/>
          <p:nvPr/>
        </p:nvSpPr>
        <p:spPr>
          <a:xfrm rot="0">
            <a:off x="596820" y="3194284"/>
            <a:ext cx="10941031" cy="4986020"/>
          </a:xfrm>
          <a:prstGeom prst="rect">
            <a:avLst/>
          </a:prstGeom>
        </p:spPr>
        <p:txBody>
          <a:bodyPr anchor="t" rtlCol="false" tIns="0" lIns="0" bIns="0" rIns="0">
            <a:spAutoFit/>
          </a:bodyPr>
          <a:lstStyle/>
          <a:p>
            <a:pPr algn="just">
              <a:lnSpc>
                <a:spcPts val="4419"/>
              </a:lnSpc>
            </a:pPr>
            <a:r>
              <a:rPr lang="en-US" sz="3399">
                <a:solidFill>
                  <a:srgbClr val="FFFFFF"/>
                </a:solidFill>
                <a:latin typeface="Alice"/>
                <a:ea typeface="Alice"/>
                <a:cs typeface="Alice"/>
                <a:sym typeface="Alice"/>
              </a:rPr>
              <a:t>An AI agent is a system that can:</a:t>
            </a:r>
          </a:p>
          <a:p>
            <a:pPr algn="just">
              <a:lnSpc>
                <a:spcPts val="4419"/>
              </a:lnSpc>
            </a:pPr>
          </a:p>
          <a:p>
            <a:pPr algn="just" marL="734053" indent="-367026" lvl="1">
              <a:lnSpc>
                <a:spcPts val="4419"/>
              </a:lnSpc>
              <a:buAutoNum type="arabicPeriod" startAt="1"/>
            </a:pPr>
            <a:r>
              <a:rPr lang="en-US" sz="3399">
                <a:solidFill>
                  <a:srgbClr val="FFFFFF"/>
                </a:solidFill>
                <a:latin typeface="Alice"/>
                <a:ea typeface="Alice"/>
                <a:cs typeface="Alice"/>
                <a:sym typeface="Alice"/>
              </a:rPr>
              <a:t> Observe — gather data from its environment (e.g., sensors, APIs, text input).</a:t>
            </a:r>
          </a:p>
          <a:p>
            <a:pPr algn="just" marL="734053" indent="-367026" lvl="1">
              <a:lnSpc>
                <a:spcPts val="4419"/>
              </a:lnSpc>
              <a:buAutoNum type="arabicPeriod" startAt="1"/>
            </a:pPr>
            <a:r>
              <a:rPr lang="en-US" sz="3399">
                <a:solidFill>
                  <a:srgbClr val="FFFFFF"/>
                </a:solidFill>
                <a:latin typeface="Alice"/>
                <a:ea typeface="Alice"/>
                <a:cs typeface="Alice"/>
                <a:sym typeface="Alice"/>
              </a:rPr>
              <a:t>Think — process information and decide what to do (using logic, rules, or learned models).</a:t>
            </a:r>
          </a:p>
          <a:p>
            <a:pPr algn="just" marL="734053" indent="-367026" lvl="1">
              <a:lnSpc>
                <a:spcPts val="4419"/>
              </a:lnSpc>
              <a:buAutoNum type="arabicPeriod" startAt="1"/>
            </a:pPr>
            <a:r>
              <a:rPr lang="en-US" sz="3399">
                <a:solidFill>
                  <a:srgbClr val="FFFFFF"/>
                </a:solidFill>
                <a:latin typeface="Alice"/>
                <a:ea typeface="Alice"/>
                <a:cs typeface="Alice"/>
                <a:sym typeface="Alice"/>
              </a:rPr>
              <a:t> </a:t>
            </a:r>
            <a:r>
              <a:rPr lang="en-US" sz="3399">
                <a:solidFill>
                  <a:srgbClr val="FFFFFF"/>
                </a:solidFill>
                <a:latin typeface="Alice"/>
                <a:ea typeface="Alice"/>
                <a:cs typeface="Alice"/>
                <a:sym typeface="Alice"/>
              </a:rPr>
              <a:t>Act — perform actions (e.g., send messages, move a robot arm, make API calls).</a:t>
            </a:r>
          </a:p>
          <a:p>
            <a:pPr algn="just">
              <a:lnSpc>
                <a:spcPts val="4419"/>
              </a:lnSpc>
            </a:pPr>
          </a:p>
        </p:txBody>
      </p:sp>
      <p:sp>
        <p:nvSpPr>
          <p:cNvPr name="Freeform 10" id="10"/>
          <p:cNvSpPr/>
          <p:nvPr/>
        </p:nvSpPr>
        <p:spPr>
          <a:xfrm flipH="false" flipV="false" rot="0">
            <a:off x="596820" y="45747"/>
            <a:ext cx="3709257" cy="982953"/>
          </a:xfrm>
          <a:custGeom>
            <a:avLst/>
            <a:gdLst/>
            <a:ahLst/>
            <a:cxnLst/>
            <a:rect r="r" b="b" t="t" l="l"/>
            <a:pathLst>
              <a:path h="982953" w="3709257">
                <a:moveTo>
                  <a:pt x="0" y="0"/>
                </a:moveTo>
                <a:lnTo>
                  <a:pt x="3709257" y="0"/>
                </a:lnTo>
                <a:lnTo>
                  <a:pt x="3709257" y="982953"/>
                </a:lnTo>
                <a:lnTo>
                  <a:pt x="0" y="982953"/>
                </a:lnTo>
                <a:lnTo>
                  <a:pt x="0" y="0"/>
                </a:lnTo>
                <a:close/>
              </a:path>
            </a:pathLst>
          </a:custGeom>
          <a:blipFill>
            <a:blip r:embed="rId6"/>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grpSp>
        <p:nvGrpSpPr>
          <p:cNvPr name="Group 3" id="3"/>
          <p:cNvGrpSpPr/>
          <p:nvPr/>
        </p:nvGrpSpPr>
        <p:grpSpPr>
          <a:xfrm rot="0">
            <a:off x="1437596" y="5873514"/>
            <a:ext cx="7096129" cy="586480"/>
            <a:chOff x="0" y="0"/>
            <a:chExt cx="4917243" cy="406400"/>
          </a:xfrm>
        </p:grpSpPr>
        <p:sp>
          <p:nvSpPr>
            <p:cNvPr name="Freeform 4" id="4"/>
            <p:cNvSpPr/>
            <p:nvPr/>
          </p:nvSpPr>
          <p:spPr>
            <a:xfrm flipH="false" flipV="false" rot="0">
              <a:off x="0" y="0"/>
              <a:ext cx="4917243" cy="406400"/>
            </a:xfrm>
            <a:custGeom>
              <a:avLst/>
              <a:gdLst/>
              <a:ahLst/>
              <a:cxnLst/>
              <a:rect r="r" b="b" t="t" l="l"/>
              <a:pathLst>
                <a:path h="406400" w="4917243">
                  <a:moveTo>
                    <a:pt x="4714043" y="0"/>
                  </a:moveTo>
                  <a:cubicBezTo>
                    <a:pt x="4826267" y="0"/>
                    <a:pt x="4917243" y="90976"/>
                    <a:pt x="4917243" y="203200"/>
                  </a:cubicBezTo>
                  <a:cubicBezTo>
                    <a:pt x="4917243" y="315424"/>
                    <a:pt x="4826267" y="406400"/>
                    <a:pt x="4714043"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5" id="5"/>
            <p:cNvSpPr txBox="true"/>
            <p:nvPr/>
          </p:nvSpPr>
          <p:spPr>
            <a:xfrm>
              <a:off x="0" y="-38100"/>
              <a:ext cx="4917243"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37596" y="6609257"/>
            <a:ext cx="7096129" cy="586480"/>
            <a:chOff x="0" y="0"/>
            <a:chExt cx="4917243" cy="406400"/>
          </a:xfrm>
        </p:grpSpPr>
        <p:sp>
          <p:nvSpPr>
            <p:cNvPr name="Freeform 7" id="7"/>
            <p:cNvSpPr/>
            <p:nvPr/>
          </p:nvSpPr>
          <p:spPr>
            <a:xfrm flipH="false" flipV="false" rot="0">
              <a:off x="0" y="0"/>
              <a:ext cx="4917243" cy="406400"/>
            </a:xfrm>
            <a:custGeom>
              <a:avLst/>
              <a:gdLst/>
              <a:ahLst/>
              <a:cxnLst/>
              <a:rect r="r" b="b" t="t" l="l"/>
              <a:pathLst>
                <a:path h="406400" w="4917243">
                  <a:moveTo>
                    <a:pt x="4714043" y="0"/>
                  </a:moveTo>
                  <a:cubicBezTo>
                    <a:pt x="4826267" y="0"/>
                    <a:pt x="4917243" y="90976"/>
                    <a:pt x="4917243" y="203200"/>
                  </a:cubicBezTo>
                  <a:cubicBezTo>
                    <a:pt x="4917243" y="315424"/>
                    <a:pt x="4826267" y="406400"/>
                    <a:pt x="4714043"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38100"/>
              <a:ext cx="4917243"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37596" y="7344999"/>
            <a:ext cx="7096129" cy="586480"/>
            <a:chOff x="0" y="0"/>
            <a:chExt cx="4917243" cy="406400"/>
          </a:xfrm>
        </p:grpSpPr>
        <p:sp>
          <p:nvSpPr>
            <p:cNvPr name="Freeform 10" id="10"/>
            <p:cNvSpPr/>
            <p:nvPr/>
          </p:nvSpPr>
          <p:spPr>
            <a:xfrm flipH="false" flipV="false" rot="0">
              <a:off x="0" y="0"/>
              <a:ext cx="4917243" cy="406400"/>
            </a:xfrm>
            <a:custGeom>
              <a:avLst/>
              <a:gdLst/>
              <a:ahLst/>
              <a:cxnLst/>
              <a:rect r="r" b="b" t="t" l="l"/>
              <a:pathLst>
                <a:path h="406400" w="4917243">
                  <a:moveTo>
                    <a:pt x="4714043" y="0"/>
                  </a:moveTo>
                  <a:cubicBezTo>
                    <a:pt x="4826267" y="0"/>
                    <a:pt x="4917243" y="90976"/>
                    <a:pt x="4917243" y="203200"/>
                  </a:cubicBezTo>
                  <a:cubicBezTo>
                    <a:pt x="4917243" y="315424"/>
                    <a:pt x="4826267" y="406400"/>
                    <a:pt x="4714043"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1" id="11"/>
            <p:cNvSpPr txBox="true"/>
            <p:nvPr/>
          </p:nvSpPr>
          <p:spPr>
            <a:xfrm>
              <a:off x="0" y="-38100"/>
              <a:ext cx="4917243"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646067" y="6009461"/>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646067" y="6763720"/>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646067" y="7517979"/>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437596" y="3000544"/>
            <a:ext cx="7146138" cy="2359305"/>
            <a:chOff x="0" y="0"/>
            <a:chExt cx="1107124" cy="365518"/>
          </a:xfrm>
        </p:grpSpPr>
        <p:sp>
          <p:nvSpPr>
            <p:cNvPr name="Freeform 16" id="16"/>
            <p:cNvSpPr/>
            <p:nvPr/>
          </p:nvSpPr>
          <p:spPr>
            <a:xfrm flipH="false" flipV="false" rot="0">
              <a:off x="0" y="0"/>
              <a:ext cx="1107124" cy="365518"/>
            </a:xfrm>
            <a:custGeom>
              <a:avLst/>
              <a:gdLst/>
              <a:ahLst/>
              <a:cxnLst/>
              <a:rect r="r" b="b" t="t" l="l"/>
              <a:pathLst>
                <a:path h="365518" w="1107124">
                  <a:moveTo>
                    <a:pt x="39001" y="0"/>
                  </a:moveTo>
                  <a:lnTo>
                    <a:pt x="1068122" y="0"/>
                  </a:lnTo>
                  <a:cubicBezTo>
                    <a:pt x="1089662" y="0"/>
                    <a:pt x="1107124" y="17462"/>
                    <a:pt x="1107124" y="39001"/>
                  </a:cubicBezTo>
                  <a:lnTo>
                    <a:pt x="1107124" y="326517"/>
                  </a:lnTo>
                  <a:cubicBezTo>
                    <a:pt x="1107124" y="336860"/>
                    <a:pt x="1103015" y="346781"/>
                    <a:pt x="1095700" y="354095"/>
                  </a:cubicBezTo>
                  <a:cubicBezTo>
                    <a:pt x="1088386" y="361409"/>
                    <a:pt x="1078466" y="365518"/>
                    <a:pt x="1068122" y="365518"/>
                  </a:cubicBezTo>
                  <a:lnTo>
                    <a:pt x="39001" y="365518"/>
                  </a:lnTo>
                  <a:cubicBezTo>
                    <a:pt x="28658" y="365518"/>
                    <a:pt x="18737" y="361409"/>
                    <a:pt x="11423" y="354095"/>
                  </a:cubicBezTo>
                  <a:cubicBezTo>
                    <a:pt x="4109" y="346781"/>
                    <a:pt x="0" y="336860"/>
                    <a:pt x="0" y="326517"/>
                  </a:cubicBezTo>
                  <a:lnTo>
                    <a:pt x="0" y="39001"/>
                  </a:lnTo>
                  <a:cubicBezTo>
                    <a:pt x="0" y="28658"/>
                    <a:pt x="4109" y="18737"/>
                    <a:pt x="11423" y="11423"/>
                  </a:cubicBezTo>
                  <a:cubicBezTo>
                    <a:pt x="18737" y="4109"/>
                    <a:pt x="28658" y="0"/>
                    <a:pt x="39001" y="0"/>
                  </a:cubicBezTo>
                  <a:close/>
                </a:path>
              </a:pathLst>
            </a:custGeom>
            <a:blipFill>
              <a:blip r:embed="rId5"/>
              <a:stretch>
                <a:fillRect l="0" t="-32052" r="0" b="-69749"/>
              </a:stretch>
            </a:blipFill>
          </p:spPr>
        </p:sp>
      </p:grpSp>
      <p:grpSp>
        <p:nvGrpSpPr>
          <p:cNvPr name="Group 17" id="17"/>
          <p:cNvGrpSpPr/>
          <p:nvPr/>
        </p:nvGrpSpPr>
        <p:grpSpPr>
          <a:xfrm rot="0">
            <a:off x="9364105" y="5873514"/>
            <a:ext cx="7298788" cy="4826045"/>
            <a:chOff x="0" y="0"/>
            <a:chExt cx="1130773" cy="747681"/>
          </a:xfrm>
        </p:grpSpPr>
        <p:sp>
          <p:nvSpPr>
            <p:cNvPr name="Freeform 18" id="18"/>
            <p:cNvSpPr/>
            <p:nvPr/>
          </p:nvSpPr>
          <p:spPr>
            <a:xfrm flipH="false" flipV="false" rot="0">
              <a:off x="0" y="0"/>
              <a:ext cx="1130773" cy="747681"/>
            </a:xfrm>
            <a:custGeom>
              <a:avLst/>
              <a:gdLst/>
              <a:ahLst/>
              <a:cxnLst/>
              <a:rect r="r" b="b" t="t" l="l"/>
              <a:pathLst>
                <a:path h="747681" w="1130773">
                  <a:moveTo>
                    <a:pt x="38186" y="0"/>
                  </a:moveTo>
                  <a:lnTo>
                    <a:pt x="1092588" y="0"/>
                  </a:lnTo>
                  <a:cubicBezTo>
                    <a:pt x="1113677" y="0"/>
                    <a:pt x="1130773" y="17096"/>
                    <a:pt x="1130773" y="38186"/>
                  </a:cubicBezTo>
                  <a:lnTo>
                    <a:pt x="1130773" y="709495"/>
                  </a:lnTo>
                  <a:cubicBezTo>
                    <a:pt x="1130773" y="730584"/>
                    <a:pt x="1113677" y="747681"/>
                    <a:pt x="1092588" y="747681"/>
                  </a:cubicBezTo>
                  <a:lnTo>
                    <a:pt x="38186" y="747681"/>
                  </a:lnTo>
                  <a:cubicBezTo>
                    <a:pt x="17096" y="747681"/>
                    <a:pt x="0" y="730584"/>
                    <a:pt x="0" y="709495"/>
                  </a:cubicBezTo>
                  <a:lnTo>
                    <a:pt x="0" y="38186"/>
                  </a:lnTo>
                  <a:cubicBezTo>
                    <a:pt x="0" y="17096"/>
                    <a:pt x="17096" y="0"/>
                    <a:pt x="38186" y="0"/>
                  </a:cubicBezTo>
                  <a:close/>
                </a:path>
              </a:pathLst>
            </a:custGeom>
            <a:blipFill>
              <a:blip r:embed="rId6"/>
              <a:stretch>
                <a:fillRect l="-19684" t="-11457" r="0" b="-9214"/>
              </a:stretch>
            </a:blipFill>
          </p:spPr>
        </p:sp>
      </p:grpSp>
      <p:sp>
        <p:nvSpPr>
          <p:cNvPr name="Freeform 19" id="19"/>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7">
              <a:alphaModFix amt="90000"/>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7">
              <a:alphaModFix amt="90000"/>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9144000" y="2744223"/>
            <a:ext cx="8115300"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Real-World Applications</a:t>
            </a:r>
          </a:p>
        </p:txBody>
      </p:sp>
      <p:sp>
        <p:nvSpPr>
          <p:cNvPr name="TextBox 22" id="22"/>
          <p:cNvSpPr txBox="true"/>
          <p:nvPr/>
        </p:nvSpPr>
        <p:spPr>
          <a:xfrm rot="0">
            <a:off x="9144000" y="3907089"/>
            <a:ext cx="7713183" cy="1447800"/>
          </a:xfrm>
          <a:prstGeom prst="rect">
            <a:avLst/>
          </a:prstGeom>
        </p:spPr>
        <p:txBody>
          <a:bodyPr anchor="t" rtlCol="false" tIns="0" lIns="0" bIns="0" rIns="0">
            <a:spAutoFit/>
          </a:bodyPr>
          <a:lstStyle/>
          <a:p>
            <a:pPr algn="just">
              <a:lnSpc>
                <a:spcPts val="3899"/>
              </a:lnSpc>
            </a:pPr>
            <a:r>
              <a:rPr lang="en-US" sz="2999">
                <a:solidFill>
                  <a:srgbClr val="FFFFFF"/>
                </a:solidFill>
                <a:latin typeface="Alice"/>
                <a:ea typeface="Alice"/>
                <a:cs typeface="Alice"/>
                <a:sym typeface="Alice"/>
              </a:rPr>
              <a:t>AI Agents are transforming various sectors, including healthcare, finance, and customer service.</a:t>
            </a:r>
          </a:p>
        </p:txBody>
      </p:sp>
      <p:sp>
        <p:nvSpPr>
          <p:cNvPr name="Freeform 23" id="23"/>
          <p:cNvSpPr/>
          <p:nvPr/>
        </p:nvSpPr>
        <p:spPr>
          <a:xfrm flipH="false" flipV="false" rot="0">
            <a:off x="4047121" y="7538902"/>
            <a:ext cx="4486604" cy="785156"/>
          </a:xfrm>
          <a:custGeom>
            <a:avLst/>
            <a:gdLst/>
            <a:ahLst/>
            <a:cxnLst/>
            <a:rect r="r" b="b" t="t" l="l"/>
            <a:pathLst>
              <a:path h="785156" w="4486604">
                <a:moveTo>
                  <a:pt x="0" y="0"/>
                </a:moveTo>
                <a:lnTo>
                  <a:pt x="4486604" y="0"/>
                </a:lnTo>
                <a:lnTo>
                  <a:pt x="4486604" y="785156"/>
                </a:lnTo>
                <a:lnTo>
                  <a:pt x="0" y="785156"/>
                </a:lnTo>
                <a:lnTo>
                  <a:pt x="0" y="0"/>
                </a:lnTo>
                <a:close/>
              </a:path>
            </a:pathLst>
          </a:custGeom>
          <a:blipFill>
            <a:blip r:embed="rId9"/>
            <a:stretch>
              <a:fillRect l="0" t="0" r="0" b="0"/>
            </a:stretch>
          </a:blipFill>
        </p:spPr>
      </p:sp>
      <p:sp>
        <p:nvSpPr>
          <p:cNvPr name="Freeform 24" id="24"/>
          <p:cNvSpPr/>
          <p:nvPr/>
        </p:nvSpPr>
        <p:spPr>
          <a:xfrm flipH="false" flipV="false" rot="0">
            <a:off x="1437596" y="5480936"/>
            <a:ext cx="4486604" cy="785156"/>
          </a:xfrm>
          <a:custGeom>
            <a:avLst/>
            <a:gdLst/>
            <a:ahLst/>
            <a:cxnLst/>
            <a:rect r="r" b="b" t="t" l="l"/>
            <a:pathLst>
              <a:path h="785156" w="4486604">
                <a:moveTo>
                  <a:pt x="0" y="0"/>
                </a:moveTo>
                <a:lnTo>
                  <a:pt x="4486603" y="0"/>
                </a:lnTo>
                <a:lnTo>
                  <a:pt x="4486603" y="785156"/>
                </a:lnTo>
                <a:lnTo>
                  <a:pt x="0" y="785156"/>
                </a:lnTo>
                <a:lnTo>
                  <a:pt x="0" y="0"/>
                </a:lnTo>
                <a:close/>
              </a:path>
            </a:pathLst>
          </a:custGeom>
          <a:blipFill>
            <a:blip r:embed="rId9"/>
            <a:stretch>
              <a:fillRect l="0" t="0" r="0" b="0"/>
            </a:stretch>
          </a:blipFill>
        </p:spPr>
      </p:sp>
      <p:sp>
        <p:nvSpPr>
          <p:cNvPr name="TextBox 25" id="25"/>
          <p:cNvSpPr txBox="true"/>
          <p:nvPr/>
        </p:nvSpPr>
        <p:spPr>
          <a:xfrm rot="0">
            <a:off x="2036602" y="5962369"/>
            <a:ext cx="5549736" cy="380195"/>
          </a:xfrm>
          <a:prstGeom prst="rect">
            <a:avLst/>
          </a:prstGeom>
        </p:spPr>
        <p:txBody>
          <a:bodyPr anchor="t" rtlCol="false" tIns="0" lIns="0" bIns="0" rIns="0">
            <a:spAutoFit/>
          </a:bodyPr>
          <a:lstStyle/>
          <a:p>
            <a:pPr algn="just">
              <a:lnSpc>
                <a:spcPts val="3007"/>
              </a:lnSpc>
            </a:pPr>
            <a:r>
              <a:rPr lang="en-US" sz="2313" b="true">
                <a:solidFill>
                  <a:srgbClr val="FFFFFF"/>
                </a:solidFill>
                <a:latin typeface="Montserrat Bold"/>
                <a:ea typeface="Montserrat Bold"/>
                <a:cs typeface="Montserrat Bold"/>
                <a:sym typeface="Montserrat Bold"/>
              </a:rPr>
              <a:t>Tesla-Autopilot</a:t>
            </a:r>
          </a:p>
        </p:txBody>
      </p:sp>
      <p:sp>
        <p:nvSpPr>
          <p:cNvPr name="TextBox 26" id="26"/>
          <p:cNvSpPr txBox="true"/>
          <p:nvPr/>
        </p:nvSpPr>
        <p:spPr>
          <a:xfrm rot="0">
            <a:off x="2036602" y="6716628"/>
            <a:ext cx="5549736" cy="380195"/>
          </a:xfrm>
          <a:prstGeom prst="rect">
            <a:avLst/>
          </a:prstGeom>
        </p:spPr>
        <p:txBody>
          <a:bodyPr anchor="t" rtlCol="false" tIns="0" lIns="0" bIns="0" rIns="0">
            <a:spAutoFit/>
          </a:bodyPr>
          <a:lstStyle/>
          <a:p>
            <a:pPr algn="just">
              <a:lnSpc>
                <a:spcPts val="3007"/>
              </a:lnSpc>
            </a:pPr>
            <a:r>
              <a:rPr lang="en-US" sz="2313" b="true">
                <a:solidFill>
                  <a:srgbClr val="FFFFFF"/>
                </a:solidFill>
                <a:latin typeface="Montserrat Bold"/>
                <a:ea typeface="Montserrat Bold"/>
                <a:cs typeface="Montserrat Bold"/>
                <a:sym typeface="Montserrat Bold"/>
              </a:rPr>
              <a:t>Siri, Alexa</a:t>
            </a:r>
          </a:p>
        </p:txBody>
      </p:sp>
      <p:sp>
        <p:nvSpPr>
          <p:cNvPr name="TextBox 27" id="27"/>
          <p:cNvSpPr txBox="true"/>
          <p:nvPr/>
        </p:nvSpPr>
        <p:spPr>
          <a:xfrm rot="0">
            <a:off x="2036602" y="7470887"/>
            <a:ext cx="5549736" cy="380195"/>
          </a:xfrm>
          <a:prstGeom prst="rect">
            <a:avLst/>
          </a:prstGeom>
        </p:spPr>
        <p:txBody>
          <a:bodyPr anchor="t" rtlCol="false" tIns="0" lIns="0" bIns="0" rIns="0">
            <a:spAutoFit/>
          </a:bodyPr>
          <a:lstStyle/>
          <a:p>
            <a:pPr algn="just">
              <a:lnSpc>
                <a:spcPts val="3007"/>
              </a:lnSpc>
            </a:pPr>
            <a:r>
              <a:rPr lang="en-US" sz="2313" b="true">
                <a:solidFill>
                  <a:srgbClr val="FFFFFF"/>
                </a:solidFill>
                <a:latin typeface="Montserrat Bold"/>
                <a:ea typeface="Montserrat Bold"/>
                <a:cs typeface="Montserrat Bold"/>
                <a:sym typeface="Montserrat Bold"/>
              </a:rPr>
              <a:t>Vaccum Cleaner (Roomba)</a:t>
            </a:r>
          </a:p>
        </p:txBody>
      </p:sp>
      <p:sp>
        <p:nvSpPr>
          <p:cNvPr name="Freeform 28" id="28"/>
          <p:cNvSpPr/>
          <p:nvPr/>
        </p:nvSpPr>
        <p:spPr>
          <a:xfrm flipH="false" flipV="false" rot="0">
            <a:off x="1028700" y="1028700"/>
            <a:ext cx="3709257" cy="982953"/>
          </a:xfrm>
          <a:custGeom>
            <a:avLst/>
            <a:gdLst/>
            <a:ahLst/>
            <a:cxnLst/>
            <a:rect r="r" b="b" t="t" l="l"/>
            <a:pathLst>
              <a:path h="982953" w="3709257">
                <a:moveTo>
                  <a:pt x="0" y="0"/>
                </a:moveTo>
                <a:lnTo>
                  <a:pt x="3709257" y="0"/>
                </a:lnTo>
                <a:lnTo>
                  <a:pt x="3709257" y="982953"/>
                </a:lnTo>
                <a:lnTo>
                  <a:pt x="0" y="982953"/>
                </a:lnTo>
                <a:lnTo>
                  <a:pt x="0" y="0"/>
                </a:lnTo>
                <a:close/>
              </a:path>
            </a:pathLst>
          </a:custGeom>
          <a:blipFill>
            <a:blip r:embed="rId10"/>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descr="Futuristic Tech Element"/>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descr="Futuristic Tech Element"/>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67000"/>
              <a:extLst>
                <a:ext uri="{96DAC541-7B7A-43D3-8B79-37D633B846F1}">
                  <asvg:svgBlip xmlns:asvg="http://schemas.microsoft.com/office/drawing/2016/SVG/main" r:embed="rId4"/>
                </a:ext>
              </a:extLst>
            </a:blip>
            <a:stretch>
              <a:fillRect l="0" t="0" r="0" b="0"/>
            </a:stretch>
          </a:blipFill>
        </p:spPr>
      </p:sp>
      <p:sp>
        <p:nvSpPr>
          <p:cNvPr name="AutoShape 5" id="5"/>
          <p:cNvSpPr/>
          <p:nvPr/>
        </p:nvSpPr>
        <p:spPr>
          <a:xfrm rot="0">
            <a:off x="762777" y="1714500"/>
            <a:ext cx="6400800" cy="7543800"/>
          </a:xfrm>
          <a:prstGeom prst="rect">
            <a:avLst/>
          </a:prstGeom>
          <a:solidFill>
            <a:srgbClr val="FFFFFF"/>
          </a:solidFill>
        </p:spPr>
      </p:sp>
      <p:grpSp>
        <p:nvGrpSpPr>
          <p:cNvPr name="Group 6" id="6"/>
          <p:cNvGrpSpPr/>
          <p:nvPr/>
        </p:nvGrpSpPr>
        <p:grpSpPr>
          <a:xfrm rot="0">
            <a:off x="1736738" y="2486356"/>
            <a:ext cx="6799321" cy="7486319"/>
            <a:chOff x="0" y="0"/>
            <a:chExt cx="812800" cy="894925"/>
          </a:xfrm>
        </p:grpSpPr>
        <p:sp>
          <p:nvSpPr>
            <p:cNvPr name="Freeform 7" id="7"/>
            <p:cNvSpPr/>
            <p:nvPr/>
          </p:nvSpPr>
          <p:spPr>
            <a:xfrm flipH="false" flipV="false" rot="0">
              <a:off x="0" y="0"/>
              <a:ext cx="812800" cy="894925"/>
            </a:xfrm>
            <a:custGeom>
              <a:avLst/>
              <a:gdLst/>
              <a:ahLst/>
              <a:cxnLst/>
              <a:rect r="r" b="b" t="t" l="l"/>
              <a:pathLst>
                <a:path h="894925" w="812800">
                  <a:moveTo>
                    <a:pt x="0" y="0"/>
                  </a:moveTo>
                  <a:lnTo>
                    <a:pt x="812800" y="0"/>
                  </a:lnTo>
                  <a:lnTo>
                    <a:pt x="812800" y="894925"/>
                  </a:lnTo>
                  <a:lnTo>
                    <a:pt x="0" y="894925"/>
                  </a:lnTo>
                  <a:close/>
                </a:path>
              </a:pathLst>
            </a:custGeom>
            <a:blipFill>
              <a:blip r:embed="rId5"/>
              <a:stretch>
                <a:fillRect l="-37038" t="0" r="-37038" b="0"/>
              </a:stretch>
            </a:blipFill>
          </p:spPr>
        </p:sp>
      </p:grpSp>
      <p:grpSp>
        <p:nvGrpSpPr>
          <p:cNvPr name="Group 8" id="8"/>
          <p:cNvGrpSpPr/>
          <p:nvPr/>
        </p:nvGrpSpPr>
        <p:grpSpPr>
          <a:xfrm rot="0">
            <a:off x="9144000" y="3372873"/>
            <a:ext cx="8416178" cy="3943167"/>
            <a:chOff x="0" y="0"/>
            <a:chExt cx="11221571" cy="5257556"/>
          </a:xfrm>
        </p:grpSpPr>
        <p:sp>
          <p:nvSpPr>
            <p:cNvPr name="TextBox 9" id="9"/>
            <p:cNvSpPr txBox="true"/>
            <p:nvPr/>
          </p:nvSpPr>
          <p:spPr>
            <a:xfrm rot="0">
              <a:off x="0" y="0"/>
              <a:ext cx="11221571" cy="1422400"/>
            </a:xfrm>
            <a:prstGeom prst="rect">
              <a:avLst/>
            </a:prstGeom>
          </p:spPr>
          <p:txBody>
            <a:bodyPr anchor="t" rtlCol="false" tIns="0" lIns="0" bIns="0" rIns="0">
              <a:spAutoFit/>
            </a:bodyPr>
            <a:lstStyle/>
            <a:p>
              <a:pPr algn="l" marL="0" indent="0" lvl="0">
                <a:lnSpc>
                  <a:spcPts val="8435"/>
                </a:lnSpc>
              </a:pPr>
              <a:r>
                <a:rPr lang="en-US" b="true" sz="7029">
                  <a:solidFill>
                    <a:srgbClr val="FFFFFF"/>
                  </a:solidFill>
                  <a:latin typeface="Montaser Arabic Bold"/>
                  <a:ea typeface="Montaser Arabic Bold"/>
                  <a:cs typeface="Montaser Arabic Bold"/>
                  <a:sym typeface="Montaser Arabic Bold"/>
                </a:rPr>
                <a:t>AI in Healthcare</a:t>
              </a:r>
            </a:p>
          </p:txBody>
        </p:sp>
        <p:sp>
          <p:nvSpPr>
            <p:cNvPr name="TextBox 10" id="10"/>
            <p:cNvSpPr txBox="true"/>
            <p:nvPr/>
          </p:nvSpPr>
          <p:spPr>
            <a:xfrm rot="0">
              <a:off x="0" y="1987550"/>
              <a:ext cx="10316598" cy="603250"/>
            </a:xfrm>
            <a:prstGeom prst="rect">
              <a:avLst/>
            </a:prstGeom>
          </p:spPr>
          <p:txBody>
            <a:bodyPr anchor="t" rtlCol="false" tIns="0" lIns="0" bIns="0" rIns="0">
              <a:spAutoFit/>
            </a:bodyPr>
            <a:lstStyle/>
            <a:p>
              <a:pPr algn="ctr" marL="0" indent="0" lvl="0">
                <a:lnSpc>
                  <a:spcPts val="3501"/>
                </a:lnSpc>
              </a:pPr>
              <a:r>
                <a:rPr lang="en-US" sz="2918">
                  <a:solidFill>
                    <a:srgbClr val="FFFFFF"/>
                  </a:solidFill>
                  <a:latin typeface="Alice"/>
                  <a:ea typeface="Alice"/>
                  <a:cs typeface="Alice"/>
                  <a:sym typeface="Alice"/>
                </a:rPr>
                <a:t>Revolutionizing Health and Wellness</a:t>
              </a:r>
            </a:p>
          </p:txBody>
        </p:sp>
        <p:sp>
          <p:nvSpPr>
            <p:cNvPr name="TextBox 11" id="11"/>
            <p:cNvSpPr txBox="true"/>
            <p:nvPr/>
          </p:nvSpPr>
          <p:spPr>
            <a:xfrm rot="0">
              <a:off x="0" y="3092450"/>
              <a:ext cx="10316598" cy="2165106"/>
            </a:xfrm>
            <a:prstGeom prst="rect">
              <a:avLst/>
            </a:prstGeom>
          </p:spPr>
          <p:txBody>
            <a:bodyPr anchor="t" rtlCol="false" tIns="0" lIns="0" bIns="0" rIns="0">
              <a:spAutoFit/>
            </a:bodyPr>
            <a:lstStyle/>
            <a:p>
              <a:pPr algn="just" marL="635243" indent="-317622" lvl="1">
                <a:lnSpc>
                  <a:spcPts val="4413"/>
                </a:lnSpc>
                <a:buFont typeface="Arial"/>
                <a:buChar char="•"/>
              </a:pPr>
              <a:r>
                <a:rPr lang="en-US" sz="2942">
                  <a:solidFill>
                    <a:srgbClr val="FFFFFF"/>
                  </a:solidFill>
                  <a:latin typeface="Alice"/>
                  <a:ea typeface="Alice"/>
                  <a:cs typeface="Alice"/>
                  <a:sym typeface="Alice"/>
                </a:rPr>
                <a:t>Virtual health assistants</a:t>
              </a:r>
            </a:p>
            <a:p>
              <a:pPr algn="just" marL="635243" indent="-317622" lvl="1">
                <a:lnSpc>
                  <a:spcPts val="4413"/>
                </a:lnSpc>
                <a:buFont typeface="Arial"/>
                <a:buChar char="•"/>
              </a:pPr>
              <a:r>
                <a:rPr lang="en-US" sz="2942">
                  <a:solidFill>
                    <a:srgbClr val="FFFFFF"/>
                  </a:solidFill>
                  <a:latin typeface="Alice"/>
                  <a:ea typeface="Alice"/>
                  <a:cs typeface="Alice"/>
                  <a:sym typeface="Alice"/>
                </a:rPr>
                <a:t>Robotic surgery assistants</a:t>
              </a:r>
            </a:p>
            <a:p>
              <a:pPr algn="just" marL="635243" indent="-317622" lvl="1">
                <a:lnSpc>
                  <a:spcPts val="4413"/>
                </a:lnSpc>
                <a:buFont typeface="Arial"/>
                <a:buChar char="•"/>
              </a:pPr>
              <a:r>
                <a:rPr lang="en-US" sz="2942">
                  <a:solidFill>
                    <a:srgbClr val="FFFFFF"/>
                  </a:solidFill>
                  <a:latin typeface="Alice"/>
                  <a:ea typeface="Alice"/>
                  <a:cs typeface="Alice"/>
                  <a:sym typeface="Alice"/>
                </a:rPr>
                <a:t>Patient monitoring agents</a:t>
              </a:r>
            </a:p>
          </p:txBody>
        </p:sp>
      </p:grpSp>
      <p:sp>
        <p:nvSpPr>
          <p:cNvPr name="Freeform 12" id="12"/>
          <p:cNvSpPr/>
          <p:nvPr/>
        </p:nvSpPr>
        <p:spPr>
          <a:xfrm flipH="false" flipV="false" rot="0">
            <a:off x="1028700" y="731547"/>
            <a:ext cx="3709257" cy="982953"/>
          </a:xfrm>
          <a:custGeom>
            <a:avLst/>
            <a:gdLst/>
            <a:ahLst/>
            <a:cxnLst/>
            <a:rect r="r" b="b" t="t" l="l"/>
            <a:pathLst>
              <a:path h="982953" w="3709257">
                <a:moveTo>
                  <a:pt x="0" y="0"/>
                </a:moveTo>
                <a:lnTo>
                  <a:pt x="3709257" y="0"/>
                </a:lnTo>
                <a:lnTo>
                  <a:pt x="3709257" y="982953"/>
                </a:lnTo>
                <a:lnTo>
                  <a:pt x="0" y="982953"/>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descr="Futuristic Tech Element"/>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descr="Futuristic Tech Element"/>
          <p:cNvSpPr/>
          <p:nvPr/>
        </p:nvSpPr>
        <p:spPr>
          <a:xfrm flipH="false" flipV="false" rot="0">
            <a:off x="10796297" y="5538592"/>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descr="Futuristic Tech Element"/>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628038">
            <a:off x="12564793" y="-1386196"/>
            <a:ext cx="2729333" cy="13687572"/>
          </a:xfrm>
          <a:prstGeom prst="rect">
            <a:avLst/>
          </a:prstGeom>
          <a:solidFill>
            <a:srgbClr val="FFFFFF"/>
          </a:solidFill>
        </p:spPr>
      </p:sp>
      <p:grpSp>
        <p:nvGrpSpPr>
          <p:cNvPr name="Group 7" id="7"/>
          <p:cNvGrpSpPr/>
          <p:nvPr/>
        </p:nvGrpSpPr>
        <p:grpSpPr>
          <a:xfrm rot="0">
            <a:off x="10599620" y="1817471"/>
            <a:ext cx="6659680" cy="3454137"/>
            <a:chOff x="0" y="0"/>
            <a:chExt cx="1567103" cy="812800"/>
          </a:xfrm>
        </p:grpSpPr>
        <p:sp>
          <p:nvSpPr>
            <p:cNvPr name="Freeform 8" id="8"/>
            <p:cNvSpPr/>
            <p:nvPr/>
          </p:nvSpPr>
          <p:spPr>
            <a:xfrm flipH="false" flipV="false" rot="0">
              <a:off x="0" y="0"/>
              <a:ext cx="1567103" cy="812800"/>
            </a:xfrm>
            <a:custGeom>
              <a:avLst/>
              <a:gdLst/>
              <a:ahLst/>
              <a:cxnLst/>
              <a:rect r="r" b="b" t="t" l="l"/>
              <a:pathLst>
                <a:path h="812800" w="1567103">
                  <a:moveTo>
                    <a:pt x="0" y="0"/>
                  </a:moveTo>
                  <a:lnTo>
                    <a:pt x="1567103" y="0"/>
                  </a:lnTo>
                  <a:lnTo>
                    <a:pt x="1567103" y="812800"/>
                  </a:lnTo>
                  <a:lnTo>
                    <a:pt x="0" y="812800"/>
                  </a:lnTo>
                  <a:close/>
                </a:path>
              </a:pathLst>
            </a:custGeom>
            <a:blipFill>
              <a:blip r:embed="rId5"/>
              <a:stretch>
                <a:fillRect l="0" t="-15312" r="0" b="-15312"/>
              </a:stretch>
            </a:blipFill>
          </p:spPr>
        </p:sp>
      </p:grpSp>
      <p:grpSp>
        <p:nvGrpSpPr>
          <p:cNvPr name="Group 9" id="9"/>
          <p:cNvGrpSpPr/>
          <p:nvPr/>
        </p:nvGrpSpPr>
        <p:grpSpPr>
          <a:xfrm rot="0">
            <a:off x="10599620" y="5366858"/>
            <a:ext cx="6659680" cy="3454137"/>
            <a:chOff x="0" y="0"/>
            <a:chExt cx="1567103" cy="812800"/>
          </a:xfrm>
        </p:grpSpPr>
        <p:sp>
          <p:nvSpPr>
            <p:cNvPr name="Freeform 10" id="10"/>
            <p:cNvSpPr/>
            <p:nvPr/>
          </p:nvSpPr>
          <p:spPr>
            <a:xfrm flipH="true" flipV="false" rot="0">
              <a:off x="0" y="0"/>
              <a:ext cx="1567103" cy="812800"/>
            </a:xfrm>
            <a:custGeom>
              <a:avLst/>
              <a:gdLst/>
              <a:ahLst/>
              <a:cxnLst/>
              <a:rect r="r" b="b" t="t" l="l"/>
              <a:pathLst>
                <a:path h="812800" w="1567103">
                  <a:moveTo>
                    <a:pt x="1567103" y="0"/>
                  </a:moveTo>
                  <a:lnTo>
                    <a:pt x="0" y="0"/>
                  </a:lnTo>
                  <a:lnTo>
                    <a:pt x="0" y="812800"/>
                  </a:lnTo>
                  <a:lnTo>
                    <a:pt x="1567103" y="812800"/>
                  </a:lnTo>
                  <a:close/>
                </a:path>
              </a:pathLst>
            </a:custGeom>
            <a:blipFill>
              <a:blip r:embed="rId6"/>
              <a:stretch>
                <a:fillRect l="0" t="-13263" r="0" b="-13263"/>
              </a:stretch>
            </a:blipFill>
          </p:spPr>
        </p:sp>
      </p:grpSp>
      <p:grpSp>
        <p:nvGrpSpPr>
          <p:cNvPr name="Group 11" id="11"/>
          <p:cNvGrpSpPr/>
          <p:nvPr/>
        </p:nvGrpSpPr>
        <p:grpSpPr>
          <a:xfrm rot="0">
            <a:off x="1235890" y="2945294"/>
            <a:ext cx="8800181" cy="3339118"/>
            <a:chOff x="0" y="0"/>
            <a:chExt cx="11733575" cy="4452157"/>
          </a:xfrm>
        </p:grpSpPr>
        <p:sp>
          <p:nvSpPr>
            <p:cNvPr name="TextBox 12" id="12"/>
            <p:cNvSpPr txBox="true"/>
            <p:nvPr/>
          </p:nvSpPr>
          <p:spPr>
            <a:xfrm rot="0">
              <a:off x="0" y="171450"/>
              <a:ext cx="11031719" cy="1087038"/>
            </a:xfrm>
            <a:prstGeom prst="rect">
              <a:avLst/>
            </a:prstGeom>
          </p:spPr>
          <p:txBody>
            <a:bodyPr anchor="t" rtlCol="false" tIns="0" lIns="0" bIns="0" rIns="0">
              <a:spAutoFit/>
            </a:bodyPr>
            <a:lstStyle/>
            <a:p>
              <a:pPr algn="l" marL="0" indent="0" lvl="0">
                <a:lnSpc>
                  <a:spcPts val="5670"/>
                </a:lnSpc>
              </a:pPr>
              <a:r>
                <a:rPr lang="en-US" b="true" sz="6231">
                  <a:solidFill>
                    <a:srgbClr val="FFFFFF"/>
                  </a:solidFill>
                  <a:latin typeface="Montaser Arabic Bold"/>
                  <a:ea typeface="Montaser Arabic Bold"/>
                  <a:cs typeface="Montaser Arabic Bold"/>
                  <a:sym typeface="Montaser Arabic Bold"/>
                </a:rPr>
                <a:t>AI in Finance</a:t>
              </a:r>
            </a:p>
          </p:txBody>
        </p:sp>
        <p:sp>
          <p:nvSpPr>
            <p:cNvPr name="TextBox 13" id="13"/>
            <p:cNvSpPr txBox="true"/>
            <p:nvPr/>
          </p:nvSpPr>
          <p:spPr>
            <a:xfrm rot="0">
              <a:off x="0" y="1901171"/>
              <a:ext cx="11733575" cy="2550985"/>
            </a:xfrm>
            <a:prstGeom prst="rect">
              <a:avLst/>
            </a:prstGeom>
          </p:spPr>
          <p:txBody>
            <a:bodyPr anchor="t" rtlCol="false" tIns="0" lIns="0" bIns="0" rIns="0">
              <a:spAutoFit/>
            </a:bodyPr>
            <a:lstStyle/>
            <a:p>
              <a:pPr algn="just" marL="703767" indent="-351883" lvl="1">
                <a:lnSpc>
                  <a:spcPts val="5215"/>
                </a:lnSpc>
                <a:buFont typeface="Arial"/>
                <a:buChar char="•"/>
              </a:pPr>
              <a:r>
                <a:rPr lang="en-US" sz="3259">
                  <a:solidFill>
                    <a:srgbClr val="FFFFFF"/>
                  </a:solidFill>
                  <a:latin typeface="Alice"/>
                  <a:ea typeface="Alice"/>
                  <a:cs typeface="Alice"/>
                  <a:sym typeface="Alice"/>
                </a:rPr>
                <a:t>Fraud detection agents</a:t>
              </a:r>
            </a:p>
            <a:p>
              <a:pPr algn="just" marL="703767" indent="-351883" lvl="1">
                <a:lnSpc>
                  <a:spcPts val="5215"/>
                </a:lnSpc>
                <a:buFont typeface="Arial"/>
                <a:buChar char="•"/>
              </a:pPr>
              <a:r>
                <a:rPr lang="en-US" sz="3259">
                  <a:solidFill>
                    <a:srgbClr val="FFFFFF"/>
                  </a:solidFill>
                  <a:latin typeface="Alice"/>
                  <a:ea typeface="Alice"/>
                  <a:cs typeface="Alice"/>
                  <a:sym typeface="Alice"/>
                </a:rPr>
                <a:t>Robo-advisors</a:t>
              </a:r>
            </a:p>
            <a:p>
              <a:pPr algn="just" marL="703767" indent="-351883" lvl="1">
                <a:lnSpc>
                  <a:spcPts val="5215"/>
                </a:lnSpc>
                <a:buFont typeface="Arial"/>
                <a:buChar char="•"/>
              </a:pPr>
              <a:r>
                <a:rPr lang="en-US" sz="3259">
                  <a:solidFill>
                    <a:srgbClr val="FFFFFF"/>
                  </a:solidFill>
                  <a:latin typeface="Alice"/>
                  <a:ea typeface="Alice"/>
                  <a:cs typeface="Alice"/>
                  <a:sym typeface="Alice"/>
                </a:rPr>
                <a:t>Customer support agents</a:t>
              </a:r>
            </a:p>
          </p:txBody>
        </p:sp>
      </p:grpSp>
      <p:sp>
        <p:nvSpPr>
          <p:cNvPr name="Freeform 14" id="14"/>
          <p:cNvSpPr/>
          <p:nvPr/>
        </p:nvSpPr>
        <p:spPr>
          <a:xfrm flipH="false" flipV="false" rot="0">
            <a:off x="835137" y="46887"/>
            <a:ext cx="3709257" cy="982953"/>
          </a:xfrm>
          <a:custGeom>
            <a:avLst/>
            <a:gdLst/>
            <a:ahLst/>
            <a:cxnLst/>
            <a:rect r="r" b="b" t="t" l="l"/>
            <a:pathLst>
              <a:path h="982953" w="3709257">
                <a:moveTo>
                  <a:pt x="0" y="0"/>
                </a:moveTo>
                <a:lnTo>
                  <a:pt x="3709256" y="0"/>
                </a:lnTo>
                <a:lnTo>
                  <a:pt x="3709256" y="982953"/>
                </a:lnTo>
                <a:lnTo>
                  <a:pt x="0" y="982953"/>
                </a:lnTo>
                <a:lnTo>
                  <a:pt x="0" y="0"/>
                </a:lnTo>
                <a:close/>
              </a:path>
            </a:pathLst>
          </a:custGeom>
          <a:blipFill>
            <a:blip r:embed="rId7"/>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91128" y="5143500"/>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0068379" y="2229333"/>
            <a:ext cx="8718601" cy="6256454"/>
            <a:chOff x="0" y="0"/>
            <a:chExt cx="1350740" cy="969288"/>
          </a:xfrm>
        </p:grpSpPr>
        <p:sp>
          <p:nvSpPr>
            <p:cNvPr name="Freeform 7" id="7"/>
            <p:cNvSpPr/>
            <p:nvPr/>
          </p:nvSpPr>
          <p:spPr>
            <a:xfrm flipH="true" flipV="false" rot="0">
              <a:off x="0" y="0"/>
              <a:ext cx="1350740" cy="969288"/>
            </a:xfrm>
            <a:custGeom>
              <a:avLst/>
              <a:gdLst/>
              <a:ahLst/>
              <a:cxnLst/>
              <a:rect r="r" b="b" t="t" l="l"/>
              <a:pathLst>
                <a:path h="969288" w="1350740">
                  <a:moveTo>
                    <a:pt x="1301013" y="0"/>
                  </a:moveTo>
                  <a:lnTo>
                    <a:pt x="49727" y="0"/>
                  </a:lnTo>
                  <a:cubicBezTo>
                    <a:pt x="22263" y="0"/>
                    <a:pt x="0" y="22263"/>
                    <a:pt x="0" y="49727"/>
                  </a:cubicBezTo>
                  <a:lnTo>
                    <a:pt x="0" y="919562"/>
                  </a:lnTo>
                  <a:cubicBezTo>
                    <a:pt x="0" y="947025"/>
                    <a:pt x="22263" y="969288"/>
                    <a:pt x="49727" y="969288"/>
                  </a:cubicBezTo>
                  <a:lnTo>
                    <a:pt x="1301013" y="969288"/>
                  </a:lnTo>
                  <a:cubicBezTo>
                    <a:pt x="1328476" y="969288"/>
                    <a:pt x="1350740" y="947025"/>
                    <a:pt x="1350740" y="919562"/>
                  </a:cubicBezTo>
                  <a:lnTo>
                    <a:pt x="1350740" y="49727"/>
                  </a:lnTo>
                  <a:cubicBezTo>
                    <a:pt x="1350740" y="22263"/>
                    <a:pt x="1328476" y="0"/>
                    <a:pt x="1301013" y="0"/>
                  </a:cubicBezTo>
                  <a:close/>
                </a:path>
              </a:pathLst>
            </a:custGeom>
            <a:blipFill>
              <a:blip r:embed="rId5"/>
              <a:stretch>
                <a:fillRect l="0" t="0" r="-7707" b="0"/>
              </a:stretch>
            </a:blipFill>
          </p:spPr>
        </p:sp>
      </p:grpSp>
      <p:grpSp>
        <p:nvGrpSpPr>
          <p:cNvPr name="Group 8" id="8"/>
          <p:cNvGrpSpPr/>
          <p:nvPr/>
        </p:nvGrpSpPr>
        <p:grpSpPr>
          <a:xfrm rot="0">
            <a:off x="601809" y="3399660"/>
            <a:ext cx="9958993" cy="3915800"/>
            <a:chOff x="0" y="0"/>
            <a:chExt cx="13278657" cy="5221067"/>
          </a:xfrm>
        </p:grpSpPr>
        <p:sp>
          <p:nvSpPr>
            <p:cNvPr name="TextBox 9" id="9"/>
            <p:cNvSpPr txBox="true"/>
            <p:nvPr/>
          </p:nvSpPr>
          <p:spPr>
            <a:xfrm rot="0">
              <a:off x="0" y="1820366"/>
              <a:ext cx="13278657" cy="3400701"/>
            </a:xfrm>
            <a:prstGeom prst="rect">
              <a:avLst/>
            </a:prstGeom>
          </p:spPr>
          <p:txBody>
            <a:bodyPr anchor="t" rtlCol="false" tIns="0" lIns="0" bIns="0" rIns="0">
              <a:spAutoFit/>
            </a:bodyPr>
            <a:lstStyle/>
            <a:p>
              <a:pPr algn="just" marL="695461" indent="-347731" lvl="1">
                <a:lnSpc>
                  <a:spcPts val="4187"/>
                </a:lnSpc>
                <a:buFont typeface="Arial"/>
                <a:buChar char="•"/>
              </a:pPr>
              <a:r>
                <a:rPr lang="en-US" sz="3221">
                  <a:solidFill>
                    <a:srgbClr val="FFFFFF"/>
                  </a:solidFill>
                  <a:latin typeface="Alice"/>
                  <a:ea typeface="Alice"/>
                  <a:cs typeface="Alice"/>
                  <a:sym typeface="Alice"/>
                </a:rPr>
                <a:t>AI</a:t>
              </a:r>
              <a:r>
                <a:rPr lang="en-US" sz="3221">
                  <a:solidFill>
                    <a:srgbClr val="FFFFFF"/>
                  </a:solidFill>
                  <a:latin typeface="Alice"/>
                  <a:ea typeface="Alice"/>
                  <a:cs typeface="Alice"/>
                  <a:sym typeface="Alice"/>
                </a:rPr>
                <a:t> chatbots</a:t>
              </a:r>
            </a:p>
            <a:p>
              <a:pPr algn="just" marL="695461" indent="-347731" lvl="1">
                <a:lnSpc>
                  <a:spcPts val="4187"/>
                </a:lnSpc>
                <a:buFont typeface="Arial"/>
                <a:buChar char="•"/>
              </a:pPr>
              <a:r>
                <a:rPr lang="en-US" sz="3221">
                  <a:solidFill>
                    <a:srgbClr val="FFFFFF"/>
                  </a:solidFill>
                  <a:latin typeface="Alice"/>
                  <a:ea typeface="Alice"/>
                  <a:cs typeface="Alice"/>
                  <a:sym typeface="Alice"/>
                </a:rPr>
                <a:t>Voice agents</a:t>
              </a:r>
            </a:p>
            <a:p>
              <a:pPr algn="just" marL="695461" indent="-347731" lvl="1">
                <a:lnSpc>
                  <a:spcPts val="4187"/>
                </a:lnSpc>
                <a:buFont typeface="Arial"/>
                <a:buChar char="•"/>
              </a:pPr>
              <a:r>
                <a:rPr lang="en-US" sz="3221">
                  <a:solidFill>
                    <a:srgbClr val="FFFFFF"/>
                  </a:solidFill>
                  <a:latin typeface="Alice"/>
                  <a:ea typeface="Alice"/>
                  <a:cs typeface="Alice"/>
                  <a:sym typeface="Alice"/>
                </a:rPr>
                <a:t>Sentiment analysis agents</a:t>
              </a:r>
            </a:p>
            <a:p>
              <a:pPr algn="just">
                <a:lnSpc>
                  <a:spcPts val="7957"/>
                </a:lnSpc>
              </a:pPr>
            </a:p>
          </p:txBody>
        </p:sp>
        <p:sp>
          <p:nvSpPr>
            <p:cNvPr name="TextBox 10" id="10"/>
            <p:cNvSpPr txBox="true"/>
            <p:nvPr/>
          </p:nvSpPr>
          <p:spPr>
            <a:xfrm rot="0">
              <a:off x="0" y="-9525"/>
              <a:ext cx="13278657" cy="1216025"/>
            </a:xfrm>
            <a:prstGeom prst="rect">
              <a:avLst/>
            </a:prstGeom>
          </p:spPr>
          <p:txBody>
            <a:bodyPr anchor="t" rtlCol="false" tIns="0" lIns="0" bIns="0" rIns="0">
              <a:spAutoFit/>
            </a:bodyPr>
            <a:lstStyle/>
            <a:p>
              <a:pPr algn="l" marL="0" indent="0" lvl="0">
                <a:lnSpc>
                  <a:spcPts val="7145"/>
                </a:lnSpc>
              </a:pPr>
              <a:r>
                <a:rPr lang="en-US" b="true" sz="5954">
                  <a:solidFill>
                    <a:srgbClr val="FFFFFF"/>
                  </a:solidFill>
                  <a:latin typeface="Montaser Arabic Bold"/>
                  <a:ea typeface="Montaser Arabic Bold"/>
                  <a:cs typeface="Montaser Arabic Bold"/>
                  <a:sym typeface="Montaser Arabic Bold"/>
                </a:rPr>
                <a:t>AI in Customer Service</a:t>
              </a:r>
            </a:p>
          </p:txBody>
        </p:sp>
      </p:grpSp>
      <p:sp>
        <p:nvSpPr>
          <p:cNvPr name="Freeform 11" id="11"/>
          <p:cNvSpPr/>
          <p:nvPr/>
        </p:nvSpPr>
        <p:spPr>
          <a:xfrm flipH="false" flipV="false" rot="0">
            <a:off x="1437596" y="304062"/>
            <a:ext cx="3709257" cy="982953"/>
          </a:xfrm>
          <a:custGeom>
            <a:avLst/>
            <a:gdLst/>
            <a:ahLst/>
            <a:cxnLst/>
            <a:rect r="r" b="b" t="t" l="l"/>
            <a:pathLst>
              <a:path h="982953" w="3709257">
                <a:moveTo>
                  <a:pt x="0" y="0"/>
                </a:moveTo>
                <a:lnTo>
                  <a:pt x="3709257" y="0"/>
                </a:lnTo>
                <a:lnTo>
                  <a:pt x="3709257" y="982953"/>
                </a:lnTo>
                <a:lnTo>
                  <a:pt x="0" y="982953"/>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2461" t="-15029" r="0" b="-18174"/>
            </a:stretch>
          </a:blipFill>
        </p:spPr>
      </p:sp>
      <p:grpSp>
        <p:nvGrpSpPr>
          <p:cNvPr name="Group 3" id="3"/>
          <p:cNvGrpSpPr/>
          <p:nvPr/>
        </p:nvGrpSpPr>
        <p:grpSpPr>
          <a:xfrm rot="0">
            <a:off x="0" y="0"/>
            <a:ext cx="12071988" cy="10287000"/>
            <a:chOff x="0" y="0"/>
            <a:chExt cx="3179454" cy="2709333"/>
          </a:xfrm>
        </p:grpSpPr>
        <p:sp>
          <p:nvSpPr>
            <p:cNvPr name="Freeform 4" id="4"/>
            <p:cNvSpPr/>
            <p:nvPr/>
          </p:nvSpPr>
          <p:spPr>
            <a:xfrm flipH="false" flipV="false" rot="0">
              <a:off x="0" y="0"/>
              <a:ext cx="3179454" cy="2709333"/>
            </a:xfrm>
            <a:custGeom>
              <a:avLst/>
              <a:gdLst/>
              <a:ahLst/>
              <a:cxnLst/>
              <a:rect r="r" b="b" t="t" l="l"/>
              <a:pathLst>
                <a:path h="2709333" w="3179454">
                  <a:moveTo>
                    <a:pt x="0" y="0"/>
                  </a:moveTo>
                  <a:lnTo>
                    <a:pt x="3179454" y="0"/>
                  </a:lnTo>
                  <a:lnTo>
                    <a:pt x="3179454" y="2709333"/>
                  </a:lnTo>
                  <a:lnTo>
                    <a:pt x="0" y="2709333"/>
                  </a:lnTo>
                  <a:close/>
                </a:path>
              </a:pathLst>
            </a:custGeom>
            <a:gradFill rotWithShape="true">
              <a:gsLst>
                <a:gs pos="0">
                  <a:srgbClr val="000000">
                    <a:alpha val="100000"/>
                  </a:srgbClr>
                </a:gs>
                <a:gs pos="33333">
                  <a:srgbClr val="000000">
                    <a:alpha val="100000"/>
                  </a:srgbClr>
                </a:gs>
                <a:gs pos="66667">
                  <a:srgbClr val="000000">
                    <a:alpha val="82500"/>
                  </a:srgbClr>
                </a:gs>
                <a:gs pos="100000">
                  <a:srgbClr val="000000">
                    <a:alpha val="0"/>
                  </a:srgbClr>
                </a:gs>
              </a:gsLst>
              <a:lin ang="0"/>
            </a:gradFill>
          </p:spPr>
        </p:sp>
        <p:sp>
          <p:nvSpPr>
            <p:cNvPr name="TextBox 5" id="5"/>
            <p:cNvSpPr txBox="true"/>
            <p:nvPr/>
          </p:nvSpPr>
          <p:spPr>
            <a:xfrm>
              <a:off x="0" y="-19050"/>
              <a:ext cx="3179454" cy="2728383"/>
            </a:xfrm>
            <a:prstGeom prst="rect">
              <a:avLst/>
            </a:prstGeom>
          </p:spPr>
          <p:txBody>
            <a:bodyPr anchor="ctr" rtlCol="false" tIns="50800" lIns="50800" bIns="50800" rIns="50800"/>
            <a:lstStyle/>
            <a:p>
              <a:pPr algn="ctr">
                <a:lnSpc>
                  <a:spcPts val="2898"/>
                </a:lnSpc>
              </a:pPr>
            </a:p>
          </p:txBody>
        </p:sp>
      </p:grpSp>
      <p:grpSp>
        <p:nvGrpSpPr>
          <p:cNvPr name="Group 6" id="6"/>
          <p:cNvGrpSpPr/>
          <p:nvPr/>
        </p:nvGrpSpPr>
        <p:grpSpPr>
          <a:xfrm rot="0">
            <a:off x="3390575" y="7443744"/>
            <a:ext cx="5290838" cy="840036"/>
            <a:chOff x="0" y="0"/>
            <a:chExt cx="2559647" cy="406400"/>
          </a:xfrm>
        </p:grpSpPr>
        <p:sp>
          <p:nvSpPr>
            <p:cNvPr name="Freeform 7" id="7"/>
            <p:cNvSpPr/>
            <p:nvPr/>
          </p:nvSpPr>
          <p:spPr>
            <a:xfrm flipH="false" flipV="false" rot="0">
              <a:off x="0" y="0"/>
              <a:ext cx="2559647" cy="406400"/>
            </a:xfrm>
            <a:custGeom>
              <a:avLst/>
              <a:gdLst/>
              <a:ahLst/>
              <a:cxnLst/>
              <a:rect r="r" b="b" t="t" l="l"/>
              <a:pathLst>
                <a:path h="406400" w="2559647">
                  <a:moveTo>
                    <a:pt x="2356447" y="0"/>
                  </a:moveTo>
                  <a:cubicBezTo>
                    <a:pt x="2468671" y="0"/>
                    <a:pt x="2559647" y="90976"/>
                    <a:pt x="2559647" y="203200"/>
                  </a:cubicBezTo>
                  <a:cubicBezTo>
                    <a:pt x="2559647" y="315424"/>
                    <a:pt x="2468671" y="406400"/>
                    <a:pt x="2356447"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38100"/>
              <a:ext cx="2559647"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37596" y="7443744"/>
            <a:ext cx="3483091" cy="840036"/>
            <a:chOff x="0" y="0"/>
            <a:chExt cx="1685080" cy="406400"/>
          </a:xfrm>
        </p:grpSpPr>
        <p:sp>
          <p:nvSpPr>
            <p:cNvPr name="Freeform 10" id="10"/>
            <p:cNvSpPr/>
            <p:nvPr/>
          </p:nvSpPr>
          <p:spPr>
            <a:xfrm flipH="false" flipV="false" rot="0">
              <a:off x="0" y="0"/>
              <a:ext cx="1685080" cy="406400"/>
            </a:xfrm>
            <a:custGeom>
              <a:avLst/>
              <a:gdLst/>
              <a:ahLst/>
              <a:cxnLst/>
              <a:rect r="r" b="b" t="t" l="l"/>
              <a:pathLst>
                <a:path h="406400" w="1685080">
                  <a:moveTo>
                    <a:pt x="1481880" y="0"/>
                  </a:moveTo>
                  <a:cubicBezTo>
                    <a:pt x="1594104" y="0"/>
                    <a:pt x="1685080" y="90976"/>
                    <a:pt x="1685080" y="203200"/>
                  </a:cubicBezTo>
                  <a:cubicBezTo>
                    <a:pt x="1685080" y="315424"/>
                    <a:pt x="1594104" y="406400"/>
                    <a:pt x="148188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1" id="11"/>
            <p:cNvSpPr txBox="true"/>
            <p:nvPr/>
          </p:nvSpPr>
          <p:spPr>
            <a:xfrm>
              <a:off x="0" y="-38100"/>
              <a:ext cx="1685080"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437596" y="2917963"/>
            <a:ext cx="7097411" cy="1577837"/>
          </a:xfrm>
          <a:prstGeom prst="rect">
            <a:avLst/>
          </a:prstGeom>
        </p:spPr>
        <p:txBody>
          <a:bodyPr anchor="t" rtlCol="false" tIns="0" lIns="0" bIns="0" rIns="0">
            <a:spAutoFit/>
          </a:bodyPr>
          <a:lstStyle/>
          <a:p>
            <a:pPr algn="l">
              <a:lnSpc>
                <a:spcPts val="12969"/>
              </a:lnSpc>
              <a:spcBef>
                <a:spcPct val="0"/>
              </a:spcBef>
            </a:pPr>
            <a:r>
              <a:rPr lang="en-US" sz="9264" b="true">
                <a:solidFill>
                  <a:srgbClr val="FFFFFF"/>
                </a:solidFill>
                <a:latin typeface="Montaser Arabic Ultra-Bold"/>
                <a:ea typeface="Montaser Arabic Ultra-Bold"/>
                <a:cs typeface="Montaser Arabic Ultra-Bold"/>
                <a:sym typeface="Montaser Arabic Ultra-Bold"/>
              </a:rPr>
              <a:t>Thank You</a:t>
            </a:r>
          </a:p>
        </p:txBody>
      </p:sp>
      <p:sp>
        <p:nvSpPr>
          <p:cNvPr name="Freeform 14" id="14"/>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17033327" y="4495800"/>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4759952" y="7835633"/>
            <a:ext cx="4836963" cy="846468"/>
          </a:xfrm>
          <a:custGeom>
            <a:avLst/>
            <a:gdLst/>
            <a:ahLst/>
            <a:cxnLst/>
            <a:rect r="r" b="b" t="t" l="l"/>
            <a:pathLst>
              <a:path h="846468" w="4836963">
                <a:moveTo>
                  <a:pt x="0" y="0"/>
                </a:moveTo>
                <a:lnTo>
                  <a:pt x="4836962" y="0"/>
                </a:lnTo>
                <a:lnTo>
                  <a:pt x="4836962" y="846469"/>
                </a:lnTo>
                <a:lnTo>
                  <a:pt x="0" y="846469"/>
                </a:lnTo>
                <a:lnTo>
                  <a:pt x="0" y="0"/>
                </a:lnTo>
                <a:close/>
              </a:path>
            </a:pathLst>
          </a:custGeom>
          <a:blipFill>
            <a:blip r:embed="rId5"/>
            <a:stretch>
              <a:fillRect l="0" t="0" r="0" b="0"/>
            </a:stretch>
          </a:blipFill>
        </p:spPr>
      </p:sp>
      <p:sp>
        <p:nvSpPr>
          <p:cNvPr name="Freeform 17" id="17"/>
          <p:cNvSpPr/>
          <p:nvPr/>
        </p:nvSpPr>
        <p:spPr>
          <a:xfrm flipH="false" flipV="false" rot="0">
            <a:off x="1720422" y="7177785"/>
            <a:ext cx="3039530" cy="531918"/>
          </a:xfrm>
          <a:custGeom>
            <a:avLst/>
            <a:gdLst/>
            <a:ahLst/>
            <a:cxnLst/>
            <a:rect r="r" b="b" t="t" l="l"/>
            <a:pathLst>
              <a:path h="531918" w="3039530">
                <a:moveTo>
                  <a:pt x="0" y="0"/>
                </a:moveTo>
                <a:lnTo>
                  <a:pt x="3039530" y="0"/>
                </a:lnTo>
                <a:lnTo>
                  <a:pt x="3039530" y="531917"/>
                </a:lnTo>
                <a:lnTo>
                  <a:pt x="0" y="531917"/>
                </a:lnTo>
                <a:lnTo>
                  <a:pt x="0" y="0"/>
                </a:lnTo>
                <a:close/>
              </a:path>
            </a:pathLst>
          </a:custGeom>
          <a:blipFill>
            <a:blip r:embed="rId5"/>
            <a:stretch>
              <a:fillRect l="0" t="0" r="0" b="0"/>
            </a:stretch>
          </a:blipFill>
        </p:spPr>
      </p:sp>
      <p:sp>
        <p:nvSpPr>
          <p:cNvPr name="TextBox 18" id="18"/>
          <p:cNvSpPr txBox="true"/>
          <p:nvPr/>
        </p:nvSpPr>
        <p:spPr>
          <a:xfrm rot="0">
            <a:off x="1516792" y="7600699"/>
            <a:ext cx="3324699" cy="441219"/>
          </a:xfrm>
          <a:prstGeom prst="rect">
            <a:avLst/>
          </a:prstGeom>
        </p:spPr>
        <p:txBody>
          <a:bodyPr anchor="t" rtlCol="false" tIns="0" lIns="0" bIns="0" rIns="0">
            <a:spAutoFit/>
          </a:bodyPr>
          <a:lstStyle/>
          <a:p>
            <a:pPr algn="ctr">
              <a:lnSpc>
                <a:spcPts val="3578"/>
              </a:lnSpc>
            </a:pPr>
            <a:r>
              <a:rPr lang="en-US" sz="2752">
                <a:solidFill>
                  <a:srgbClr val="FFFFFF"/>
                </a:solidFill>
                <a:latin typeface="Montserrat"/>
                <a:ea typeface="Montserrat"/>
                <a:cs typeface="Montserrat"/>
                <a:sym typeface="Montserrat"/>
              </a:rPr>
              <a:t>Presented By</a:t>
            </a:r>
          </a:p>
        </p:txBody>
      </p:sp>
      <p:sp>
        <p:nvSpPr>
          <p:cNvPr name="TextBox 19" id="19"/>
          <p:cNvSpPr txBox="true"/>
          <p:nvPr/>
        </p:nvSpPr>
        <p:spPr>
          <a:xfrm rot="0">
            <a:off x="5801823" y="7600625"/>
            <a:ext cx="4161789" cy="441293"/>
          </a:xfrm>
          <a:prstGeom prst="rect">
            <a:avLst/>
          </a:prstGeom>
        </p:spPr>
        <p:txBody>
          <a:bodyPr anchor="t" rtlCol="false" tIns="0" lIns="0" bIns="0" rIns="0">
            <a:spAutoFit/>
          </a:bodyPr>
          <a:lstStyle/>
          <a:p>
            <a:pPr algn="l">
              <a:lnSpc>
                <a:spcPts val="3578"/>
              </a:lnSpc>
            </a:pPr>
            <a:r>
              <a:rPr lang="en-US" sz="2752" b="true">
                <a:solidFill>
                  <a:srgbClr val="FFFFFF"/>
                </a:solidFill>
                <a:latin typeface="Montserrat Bold"/>
                <a:ea typeface="Montserrat Bold"/>
                <a:cs typeface="Montserrat Bold"/>
                <a:sym typeface="Montserrat Bold"/>
              </a:rPr>
              <a:t>Nayana ck </a:t>
            </a:r>
          </a:p>
        </p:txBody>
      </p:sp>
      <p:sp>
        <p:nvSpPr>
          <p:cNvPr name="Freeform 20" id="20"/>
          <p:cNvSpPr/>
          <p:nvPr/>
        </p:nvSpPr>
        <p:spPr>
          <a:xfrm flipH="false" flipV="false" rot="0">
            <a:off x="1028700" y="818412"/>
            <a:ext cx="3709257" cy="981813"/>
          </a:xfrm>
          <a:custGeom>
            <a:avLst/>
            <a:gdLst/>
            <a:ahLst/>
            <a:cxnLst/>
            <a:rect r="r" b="b" t="t" l="l"/>
            <a:pathLst>
              <a:path h="981813" w="3709257">
                <a:moveTo>
                  <a:pt x="0" y="0"/>
                </a:moveTo>
                <a:lnTo>
                  <a:pt x="3709257" y="0"/>
                </a:lnTo>
                <a:lnTo>
                  <a:pt x="3709257" y="981813"/>
                </a:lnTo>
                <a:lnTo>
                  <a:pt x="0" y="981813"/>
                </a:lnTo>
                <a:lnTo>
                  <a:pt x="0" y="0"/>
                </a:lnTo>
                <a:close/>
              </a:path>
            </a:pathLst>
          </a:custGeom>
          <a:blipFill>
            <a:blip r:embed="rId6"/>
            <a:stretch>
              <a:fillRect l="0" t="0" r="0" b="-116"/>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DAGkyWSdCFE</dc:identifier>
  <dcterms:modified xsi:type="dcterms:W3CDTF">2011-08-01T06:04:30Z</dcterms:modified>
  <cp:revision>1</cp:revision>
  <dc:title>AI Agents</dc:title>
</cp:coreProperties>
</file>