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5" r:id="rId2"/>
    <p:sldId id="266" r:id="rId3"/>
    <p:sldId id="261" r:id="rId4"/>
    <p:sldId id="257" r:id="rId5"/>
    <p:sldId id="268" r:id="rId6"/>
    <p:sldId id="267" r:id="rId7"/>
    <p:sldId id="259" r:id="rId8"/>
    <p:sldId id="260" r:id="rId9"/>
    <p:sldId id="264" r:id="rId10"/>
    <p:sldId id="262" r:id="rId11"/>
    <p:sldId id="26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E898F3D-BD7D-45F2-9824-058E5FFE8CF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6755737-F262-43A9-9F76-3BBE0089BB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33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98F3D-BD7D-45F2-9824-058E5FFE8CF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96755737-F262-43A9-9F76-3BBE0089BB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815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E898F3D-BD7D-45F2-9824-058E5FFE8CF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6755737-F262-43A9-9F76-3BBE0089BB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501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98F3D-BD7D-45F2-9824-058E5FFE8CF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55737-F262-43A9-9F76-3BBE0089BB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350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98F3D-BD7D-45F2-9824-058E5FFE8CF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55737-F262-43A9-9F76-3BBE0089BB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354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98F3D-BD7D-45F2-9824-058E5FFE8CF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55737-F262-43A9-9F76-3BBE0089BB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804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98F3D-BD7D-45F2-9824-058E5FFE8CF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55737-F262-43A9-9F76-3BBE0089BB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672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E898F3D-BD7D-45F2-9824-058E5FFE8CF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6755737-F262-43A9-9F76-3BBE0089BB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34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98F3D-BD7D-45F2-9824-058E5FFE8CF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55737-F262-43A9-9F76-3BBE0089BB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0730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98F3D-BD7D-45F2-9824-058E5FFE8CF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55737-F262-43A9-9F76-3BBE0089BB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716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E898F3D-BD7D-45F2-9824-058E5FFE8CF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6755737-F262-43A9-9F76-3BBE0089BB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6068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7E898F3D-BD7D-45F2-9824-058E5FFE8CF8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96755737-F262-43A9-9F76-3BBE0089BB0B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23611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CCD745-2853-40D7-A424-3E67F01F45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1" y="4016849"/>
            <a:ext cx="11268634" cy="841456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Prompting</a:t>
            </a:r>
            <a:endParaRPr lang="en-IN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AutoShape 2" descr="Prompting guide for better AI-generated content">
            <a:extLst>
              <a:ext uri="{FF2B5EF4-FFF2-40B4-BE49-F238E27FC236}">
                <a16:creationId xmlns:a16="http://schemas.microsoft.com/office/drawing/2014/main" id="{3C5A4CFC-D560-4B0E-A759-8F0556E874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913179-1220-4043-8AD4-36A8E5550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5894" y="605118"/>
            <a:ext cx="5280212" cy="2447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070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0FFD64-100F-4E69-BB11-7665E70A8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668836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Prompting &amp; Prompting design?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F145978-B913-43AF-BA8B-639125C4D9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1" y="2569968"/>
            <a:ext cx="5422390" cy="2949115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giving instructions or inputs to an AI model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(like ChatGPT, Gemini, or Claude) so it produces the output you want — such as text, images, code, summaries, or answers.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design means crafting your instructions or questions in a way that helps an AI model (like GPT or Gemini) give accurate, useful, and clear answers.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597626-1A02-4401-B25C-D1C53DB6818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  <p:pic>
        <p:nvPicPr>
          <p:cNvPr id="2050" name="Picture 2" descr="Prompt Engineering: A Practical Example – Real Python">
            <a:extLst>
              <a:ext uri="{FF2B5EF4-FFF2-40B4-BE49-F238E27FC236}">
                <a16:creationId xmlns:a16="http://schemas.microsoft.com/office/drawing/2014/main" id="{83292AA3-124D-4B12-B627-D89E2D80D7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570"/>
          <a:stretch/>
        </p:blipFill>
        <p:spPr bwMode="auto">
          <a:xfrm>
            <a:off x="6096000" y="2228003"/>
            <a:ext cx="5514807" cy="3633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1474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75F9E-EC7F-4ACA-957E-2930DB3DA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863520"/>
            <a:ext cx="11029616" cy="615656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Principles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475F91A-5C37-4BD4-B2B2-BD4B78BA99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6922905"/>
              </p:ext>
            </p:extLst>
          </p:nvPr>
        </p:nvGraphicFramePr>
        <p:xfrm>
          <a:off x="1402975" y="1973076"/>
          <a:ext cx="9386049" cy="4368007"/>
        </p:xfrm>
        <a:graphic>
          <a:graphicData uri="http://schemas.openxmlformats.org/drawingml/2006/table">
            <a:tbl>
              <a:tblPr firstRow="1"/>
              <a:tblGrid>
                <a:gridCol w="2474259">
                  <a:extLst>
                    <a:ext uri="{9D8B030D-6E8A-4147-A177-3AD203B41FA5}">
                      <a16:colId xmlns:a16="http://schemas.microsoft.com/office/drawing/2014/main" val="676946083"/>
                    </a:ext>
                  </a:extLst>
                </a:gridCol>
                <a:gridCol w="3509682">
                  <a:extLst>
                    <a:ext uri="{9D8B030D-6E8A-4147-A177-3AD203B41FA5}">
                      <a16:colId xmlns:a16="http://schemas.microsoft.com/office/drawing/2014/main" val="3526494421"/>
                    </a:ext>
                  </a:extLst>
                </a:gridCol>
                <a:gridCol w="3402108">
                  <a:extLst>
                    <a:ext uri="{9D8B030D-6E8A-4147-A177-3AD203B41FA5}">
                      <a16:colId xmlns:a16="http://schemas.microsoft.com/office/drawing/2014/main" val="576599554"/>
                    </a:ext>
                  </a:extLst>
                </a:gridCol>
              </a:tblGrid>
              <a:tr h="388267">
                <a:tc>
                  <a:txBody>
                    <a:bodyPr/>
                    <a:lstStyle/>
                    <a:p>
                      <a:r>
                        <a:rPr lang="en-IN" b="1" dirty="0"/>
                        <a:t>Principle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Explanation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828339"/>
                  </a:ext>
                </a:extLst>
              </a:tr>
              <a:tr h="970668">
                <a:tc>
                  <a:txBody>
                    <a:bodyPr/>
                    <a:lstStyle/>
                    <a:p>
                      <a:r>
                        <a:rPr lang="en-IN" b="1"/>
                        <a:t>Clarity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Be specific about what you want. Avoid vague wording.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❌ “Explain climate.” → ✅ “Explain how climate change affects polar regions.”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1370929"/>
                  </a:ext>
                </a:extLst>
              </a:tr>
              <a:tr h="970668">
                <a:tc>
                  <a:txBody>
                    <a:bodyPr/>
                    <a:lstStyle/>
                    <a:p>
                      <a:r>
                        <a:rPr lang="en-IN" b="1" dirty="0"/>
                        <a:t>Context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Give background or data for better understanding.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“Based on this paragraph, summarize the key points in 3 bullet points.”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1865765"/>
                  </a:ext>
                </a:extLst>
              </a:tr>
              <a:tr h="679468">
                <a:tc>
                  <a:txBody>
                    <a:bodyPr/>
                    <a:lstStyle/>
                    <a:p>
                      <a:r>
                        <a:rPr lang="en-IN" b="1"/>
                        <a:t>Structure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Use formatting, lists, or step-by-step requests.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“Summarize in 3 points: 1) cause, 2) effect, 3) solution.”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6538417"/>
                  </a:ext>
                </a:extLst>
              </a:tr>
              <a:tr h="679468">
                <a:tc>
                  <a:txBody>
                    <a:bodyPr/>
                    <a:lstStyle/>
                    <a:p>
                      <a:r>
                        <a:rPr lang="en-IN" b="1"/>
                        <a:t>Role assignment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Tell the model </a:t>
                      </a:r>
                      <a:r>
                        <a:rPr lang="en-US" i="1"/>
                        <a:t>who</a:t>
                      </a:r>
                      <a:r>
                        <a:rPr lang="en-US"/>
                        <a:t> it should act as.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“Act as a data analyst and explain the chart.”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37007"/>
                  </a:ext>
                </a:extLst>
              </a:tr>
              <a:tr h="679468">
                <a:tc>
                  <a:txBody>
                    <a:bodyPr/>
                    <a:lstStyle/>
                    <a:p>
                      <a:r>
                        <a:rPr lang="en-IN" b="1"/>
                        <a:t>Constraints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Set limits for the answer (words, tone, etc.).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“Explain in under 50 words using simple language.”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2985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1196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BAB33-86BA-415F-BA36-9D0462292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823179"/>
            <a:ext cx="11029616" cy="655997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Prompting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348C759-162A-4569-BA61-23DAF0A160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2639328"/>
              </p:ext>
            </p:extLst>
          </p:nvPr>
        </p:nvGraphicFramePr>
        <p:xfrm>
          <a:off x="1524000" y="2475285"/>
          <a:ext cx="9569824" cy="2691902"/>
        </p:xfrm>
        <a:graphic>
          <a:graphicData uri="http://schemas.openxmlformats.org/drawingml/2006/table">
            <a:tbl>
              <a:tblPr firstRow="1"/>
              <a:tblGrid>
                <a:gridCol w="4784912">
                  <a:extLst>
                    <a:ext uri="{9D8B030D-6E8A-4147-A177-3AD203B41FA5}">
                      <a16:colId xmlns:a16="http://schemas.microsoft.com/office/drawing/2014/main" val="58259578"/>
                    </a:ext>
                  </a:extLst>
                </a:gridCol>
                <a:gridCol w="4784912">
                  <a:extLst>
                    <a:ext uri="{9D8B030D-6E8A-4147-A177-3AD203B41FA5}">
                      <a16:colId xmlns:a16="http://schemas.microsoft.com/office/drawing/2014/main" val="4098195802"/>
                    </a:ext>
                  </a:extLst>
                </a:gridCol>
              </a:tblGrid>
              <a:tr h="468157">
                <a:tc>
                  <a:txBody>
                    <a:bodyPr/>
                    <a:lstStyle/>
                    <a:p>
                      <a:r>
                        <a:rPr lang="en-IN" b="1" dirty="0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470144"/>
                  </a:ext>
                </a:extLst>
              </a:tr>
              <a:tr h="468157">
                <a:tc>
                  <a:txBody>
                    <a:bodyPr/>
                    <a:lstStyle/>
                    <a:p>
                      <a:r>
                        <a:rPr lang="en-IN" b="1" dirty="0"/>
                        <a:t>Zero-shot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No examples, just instruction.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4985271"/>
                  </a:ext>
                </a:extLst>
              </a:tr>
              <a:tr h="468157">
                <a:tc>
                  <a:txBody>
                    <a:bodyPr/>
                    <a:lstStyle/>
                    <a:p>
                      <a:r>
                        <a:rPr lang="en-IN" b="1"/>
                        <a:t>Few-shot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 few examples included in the prompt.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8697175"/>
                  </a:ext>
                </a:extLst>
              </a:tr>
              <a:tr h="468157">
                <a:tc>
                  <a:txBody>
                    <a:bodyPr/>
                    <a:lstStyle/>
                    <a:p>
                      <a:r>
                        <a:rPr lang="en-IN" b="1"/>
                        <a:t>Chain-of-thought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Asking the model to reason step-by-step.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2421643"/>
                  </a:ext>
                </a:extLst>
              </a:tr>
              <a:tr h="819274">
                <a:tc>
                  <a:txBody>
                    <a:bodyPr/>
                    <a:lstStyle/>
                    <a:p>
                      <a:r>
                        <a:rPr lang="en-IN" b="1" dirty="0"/>
                        <a:t>Instruction-based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Clear tasks like “Summarize,” “Explain,” “Translate.”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1272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0042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3E32F-52DA-4E02-9364-89747586C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0" i="0" dirty="0">
                <a:effectLst/>
                <a:latin typeface="Source Serif Pro" panose="020B0604020202020204" pitchFamily="18" charset="0"/>
              </a:rPr>
              <a:t>In-Context Learning</a:t>
            </a:r>
            <a:br>
              <a:rPr lang="en-IN" b="0" i="0" dirty="0">
                <a:effectLst/>
                <a:latin typeface="Source Serif Pro" panose="020B06040202020202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39E88-5F84-4231-8C90-6874F696D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1294" y="2260142"/>
            <a:ext cx="10273553" cy="2337716"/>
          </a:xfrm>
        </p:spPr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Lora" panose="020B0604020202020204" pitchFamily="2" charset="0"/>
              </a:rPr>
              <a:t>Large Language Models (LLMs) do not “learn” in the traditional sense during inference. 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Lora" panose="020B0604020202020204" pitchFamily="2" charset="0"/>
              </a:rPr>
              <a:t>Instead, they adapt to patterns given in the </a:t>
            </a:r>
            <a:r>
              <a:rPr lang="en-US" b="1" i="0" dirty="0">
                <a:solidFill>
                  <a:srgbClr val="333333"/>
                </a:solidFill>
                <a:effectLst/>
                <a:latin typeface="Lora" panose="020B0604020202020204" pitchFamily="2" charset="0"/>
              </a:rPr>
              <a:t>prompt itself</a:t>
            </a:r>
            <a:r>
              <a:rPr lang="en-US" b="0" i="0" dirty="0">
                <a:solidFill>
                  <a:srgbClr val="333333"/>
                </a:solidFill>
                <a:effectLst/>
                <a:latin typeface="Lora" panose="020B0604020202020204" pitchFamily="2" charset="0"/>
              </a:rPr>
              <a:t>. 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Lora" panose="020B0604020202020204" pitchFamily="2" charset="0"/>
              </a:rPr>
              <a:t>This ability to condition their behavior on a few examples provided at runtime is called </a:t>
            </a:r>
            <a:r>
              <a:rPr lang="en-US" b="1" i="0" dirty="0">
                <a:solidFill>
                  <a:srgbClr val="333333"/>
                </a:solidFill>
                <a:effectLst/>
                <a:latin typeface="Lora" panose="020B0604020202020204" pitchFamily="2" charset="0"/>
              </a:rPr>
              <a:t>In-Context Learning (ICL)</a:t>
            </a:r>
            <a:r>
              <a:rPr lang="en-US" b="0" i="0" dirty="0">
                <a:solidFill>
                  <a:srgbClr val="333333"/>
                </a:solidFill>
                <a:effectLst/>
                <a:latin typeface="Lora" panose="020B0604020202020204" pitchFamily="2" charset="0"/>
              </a:rPr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4564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4593F0-FD4D-46F1-8219-44AAD73D3C9B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865094" y="584318"/>
            <a:ext cx="10461812" cy="6179553"/>
          </a:xfrm>
        </p:spPr>
      </p:pic>
    </p:spTree>
    <p:extLst>
      <p:ext uri="{BB962C8B-B14F-4D97-AF65-F5344CB8AC3E}">
        <p14:creationId xmlns:p14="http://schemas.microsoft.com/office/powerpoint/2010/main" val="2152227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C5F61-69B4-4FB4-B842-8B1B28C40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957650"/>
            <a:ext cx="11029616" cy="50807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&amp; Few-shot Prompting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69A5050-E880-4550-B226-5A8FD2AF5D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3764248"/>
              </p:ext>
            </p:extLst>
          </p:nvPr>
        </p:nvGraphicFramePr>
        <p:xfrm>
          <a:off x="793376" y="1943100"/>
          <a:ext cx="10408023" cy="2971800"/>
        </p:xfrm>
        <a:graphic>
          <a:graphicData uri="http://schemas.openxmlformats.org/drawingml/2006/table">
            <a:tbl>
              <a:tblPr firstRow="1"/>
              <a:tblGrid>
                <a:gridCol w="3469341">
                  <a:extLst>
                    <a:ext uri="{9D8B030D-6E8A-4147-A177-3AD203B41FA5}">
                      <a16:colId xmlns:a16="http://schemas.microsoft.com/office/drawing/2014/main" val="491315275"/>
                    </a:ext>
                  </a:extLst>
                </a:gridCol>
                <a:gridCol w="3469341">
                  <a:extLst>
                    <a:ext uri="{9D8B030D-6E8A-4147-A177-3AD203B41FA5}">
                      <a16:colId xmlns:a16="http://schemas.microsoft.com/office/drawing/2014/main" val="3720882250"/>
                    </a:ext>
                  </a:extLst>
                </a:gridCol>
                <a:gridCol w="3469341">
                  <a:extLst>
                    <a:ext uri="{9D8B030D-6E8A-4147-A177-3AD203B41FA5}">
                      <a16:colId xmlns:a16="http://schemas.microsoft.com/office/drawing/2014/main" val="1989327368"/>
                    </a:ext>
                  </a:extLst>
                </a:gridCol>
              </a:tblGrid>
              <a:tr h="440267">
                <a:tc>
                  <a:txBody>
                    <a:bodyPr/>
                    <a:lstStyle/>
                    <a:p>
                      <a:r>
                        <a:rPr lang="en-IN" dirty="0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8370165"/>
                  </a:ext>
                </a:extLst>
              </a:tr>
              <a:tr h="770466">
                <a:tc>
                  <a:txBody>
                    <a:bodyPr/>
                    <a:lstStyle/>
                    <a:p>
                      <a:r>
                        <a:rPr lang="en-IN" b="1" dirty="0"/>
                        <a:t>Zero-shot prompting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You give </a:t>
                      </a:r>
                      <a:r>
                        <a:rPr lang="en-US" b="1"/>
                        <a:t>no examples</a:t>
                      </a:r>
                      <a:r>
                        <a:rPr lang="en-US"/>
                        <a:t>, just instructions.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🟢 “Translate this sentence to French: ‘Good morning.’”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4448732"/>
                  </a:ext>
                </a:extLst>
              </a:tr>
              <a:tr h="1761067">
                <a:tc>
                  <a:txBody>
                    <a:bodyPr/>
                    <a:lstStyle/>
                    <a:p>
                      <a:r>
                        <a:rPr lang="en-IN" b="1" dirty="0"/>
                        <a:t>Few-shot prompting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You give </a:t>
                      </a:r>
                      <a:r>
                        <a:rPr lang="en-US" b="1" dirty="0"/>
                        <a:t>a few examples</a:t>
                      </a:r>
                      <a:r>
                        <a:rPr lang="en-US" dirty="0"/>
                        <a:t> to show the pattern.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🟡 “Translate the following sentences to French: 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Hello → Bonjour 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Thank you → Merci 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Good morning → (model predicts) Bonjour.”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57857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263F5FC-829B-4122-921B-2BC0B34FAE54}"/>
              </a:ext>
            </a:extLst>
          </p:cNvPr>
          <p:cNvSpPr txBox="1"/>
          <p:nvPr/>
        </p:nvSpPr>
        <p:spPr>
          <a:xfrm>
            <a:off x="1788459" y="5392271"/>
            <a:ext cx="90902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Few-shot prompting helps the model learn the pattern from examples, improving accuracy for complex tasks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285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56FC2-35A0-4779-A335-EA3E6AF4F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383" y="570666"/>
            <a:ext cx="10515600" cy="890582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Chain-of-Thought Reasoning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29B4623-8598-401C-BA20-3042B55A54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2140702"/>
            <a:ext cx="6382871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Chain-of-thought (CoT) means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asking the model to “think aloud”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by reasoning step-by-step before giving the final answer.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Without CoT: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Q: If I have 3 apples and eat 1, how many are left?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A: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CoT: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Q: If I have 3 apples and eat 1, how many are left? Think step-by-step.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A: I start with 3 apples. I eat 1, so 3 - 1 = 2 apples left.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A9533B-F3B3-43E7-9D7C-1DEE81E14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670" y="2312894"/>
            <a:ext cx="4410635" cy="3671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523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56FC2-35A0-4779-A335-EA3E6AF4F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383" y="570666"/>
            <a:ext cx="10515600" cy="890582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Chain-of-Thought Reasoning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29B4623-8598-401C-BA20-3042B55A54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05218" y="2422021"/>
            <a:ext cx="9838765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use CoT: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Better logical reasoning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Improved math, code, and decision-making tasks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Easier debugging of mistakes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💡 You can encourage CoT by adding phrases like “Think step-by-step” or “Explain your reasoning.”</a:t>
            </a:r>
          </a:p>
        </p:txBody>
      </p:sp>
    </p:spTree>
    <p:extLst>
      <p:ext uri="{BB962C8B-B14F-4D97-AF65-F5344CB8AC3E}">
        <p14:creationId xmlns:p14="http://schemas.microsoft.com/office/powerpoint/2010/main" val="2079281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1FC44-F323-4B79-9221-E604DE24C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8105"/>
            <a:ext cx="10515600" cy="845110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Instruction-Based Prompting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4D6AE-3EDF-4A5C-BB5A-F8D365635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9530" y="1968967"/>
            <a:ext cx="9923929" cy="4630551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Instruction-based prompting means telling the AI model exactly what to do using clear, direct commands in natural language.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focuses on explicit instructions, not just questions or examples.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⚙️ Structure of an Instruction-Based Prompt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good instruction prompt often includes:</a:t>
            </a:r>
          </a:p>
          <a:p>
            <a:pPr lvl="1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What should the model do?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“Summarize,” “Translate,” “Explain,” “List,” “Classify,” etc.</a:t>
            </a:r>
          </a:p>
          <a:p>
            <a:pPr lvl="1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📄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What should it work on?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“Summarize the following paragraph…”</a:t>
            </a:r>
          </a:p>
          <a:p>
            <a:pPr lvl="1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🧱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 / Format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How should the output look?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“Use 3 bullet points,” “In one sentence,” “In JSON format,” etc.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9968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DBF0E-42FC-40D2-B78C-BC1861711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Importance of prompting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BC3B6-A28B-4CB5-BFA0-ED465FACD7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0908" y="2201109"/>
            <a:ext cx="9632575" cy="4024879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Improves Accuracy 🎯</a:t>
            </a:r>
          </a:p>
          <a:p>
            <a:pPr marL="0" indent="0">
              <a:buNone/>
            </a:pPr>
            <a:r>
              <a:rPr lang="en-US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good prompt reduces ambiguity and helps the model give </a:t>
            </a:r>
            <a:r>
              <a:rPr lang="en-US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and relevant answers</a:t>
            </a:r>
            <a:r>
              <a:rPr lang="en-US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Controls Output Format 🧩</a:t>
            </a:r>
          </a:p>
          <a:p>
            <a:pPr marL="0" indent="0">
              <a:buNone/>
            </a:pPr>
            <a:r>
              <a:rPr lang="en-US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Prompting tells the model </a:t>
            </a:r>
            <a:r>
              <a:rPr lang="en-US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respond</a:t>
            </a:r>
            <a:r>
              <a:rPr lang="en-US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(list, paragraph, table, code, etc.).</a:t>
            </a:r>
          </a:p>
          <a:p>
            <a:pPr marL="0" indent="0">
              <a:buNone/>
            </a:pPr>
            <a:r>
              <a:rPr lang="en-US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Saves Time ⏱️</a:t>
            </a:r>
          </a:p>
          <a:p>
            <a:pPr marL="0" indent="0">
              <a:buNone/>
            </a:pPr>
            <a:r>
              <a:rPr lang="en-US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prompts reduce back-and-forth corrections and give </a:t>
            </a:r>
            <a:r>
              <a:rPr lang="en-US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usable results in one go</a:t>
            </a:r>
            <a:r>
              <a:rPr lang="en-US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Provides Context 🧠</a:t>
            </a:r>
          </a:p>
          <a:p>
            <a:pPr marL="0" indent="0">
              <a:buNone/>
            </a:pPr>
            <a:r>
              <a:rPr lang="en-US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background information helps the model respond more intelligently.</a:t>
            </a:r>
          </a:p>
          <a:p>
            <a:pPr marL="0" indent="0">
              <a:buNone/>
            </a:pPr>
            <a:r>
              <a:rPr lang="en-US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Guides Model </a:t>
            </a:r>
            <a:r>
              <a:rPr lang="en-US" sz="4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🤖</a:t>
            </a:r>
          </a:p>
          <a:p>
            <a:pPr marL="0" indent="0">
              <a:buNone/>
            </a:pPr>
            <a:r>
              <a:rPr lang="en-US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Prompts can define tone, level, and role.</a:t>
            </a:r>
          </a:p>
          <a:p>
            <a:pPr marL="0" indent="0">
              <a:buNone/>
            </a:pPr>
            <a:endParaRPr lang="en-US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13950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801</TotalTime>
  <Words>739</Words>
  <Application>Microsoft Office PowerPoint</Application>
  <PresentationFormat>Widescreen</PresentationFormat>
  <Paragraphs>84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Gill Sans MT</vt:lpstr>
      <vt:lpstr>Lora</vt:lpstr>
      <vt:lpstr>Source Serif Pro</vt:lpstr>
      <vt:lpstr>Times New Roman</vt:lpstr>
      <vt:lpstr>Wingdings 2</vt:lpstr>
      <vt:lpstr>Dividend</vt:lpstr>
      <vt:lpstr>Prompting</vt:lpstr>
      <vt:lpstr>What is Prompting &amp; Prompting design?</vt:lpstr>
      <vt:lpstr>Key Principles</vt:lpstr>
      <vt:lpstr>Types of Prompting</vt:lpstr>
      <vt:lpstr>In-Context Learning </vt:lpstr>
      <vt:lpstr>PowerPoint Presentation</vt:lpstr>
      <vt:lpstr>Zero &amp; Few-shot Prompting</vt:lpstr>
      <vt:lpstr>Chain-of-Thought Reasoning</vt:lpstr>
      <vt:lpstr>Chain-of-Thought Reasoning</vt:lpstr>
      <vt:lpstr>Instruction-Based Prompting</vt:lpstr>
      <vt:lpstr>Importance of prompting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Prompting &amp; Prompting design</dc:title>
  <dc:creator>Nayana C K</dc:creator>
  <cp:lastModifiedBy>Nayana C K</cp:lastModifiedBy>
  <cp:revision>8</cp:revision>
  <dcterms:created xsi:type="dcterms:W3CDTF">2025-10-09T06:11:57Z</dcterms:created>
  <dcterms:modified xsi:type="dcterms:W3CDTF">2026-01-09T12:30:41Z</dcterms:modified>
</cp:coreProperties>
</file>