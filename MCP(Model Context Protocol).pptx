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layfair Display Medium"/>
      <p:regular r:id="rId20"/>
      <p:bold r:id="rId21"/>
      <p:italic r:id="rId22"/>
      <p:boldItalic r:id="rId23"/>
    </p:embeddedFont>
    <p:embeddedFont>
      <p:font typeface="Playfair Displ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Medium-regular.fntdata"/><Relationship Id="rId22" Type="http://schemas.openxmlformats.org/officeDocument/2006/relationships/font" Target="fonts/PlayfairDisplayMedium-italic.fntdata"/><Relationship Id="rId21" Type="http://schemas.openxmlformats.org/officeDocument/2006/relationships/font" Target="fonts/PlayfairDisplayMedium-bold.fntdata"/><Relationship Id="rId24" Type="http://schemas.openxmlformats.org/officeDocument/2006/relationships/font" Target="fonts/PlayfairDisplay-regular.fntdata"/><Relationship Id="rId23" Type="http://schemas.openxmlformats.org/officeDocument/2006/relationships/font" Target="fonts/PlayfairDisplay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Lato-regular.fntdata"/><Relationship Id="rId27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fb4a2be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9fb4a2be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fb4a2bea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9fb4a2bea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fb4a2bea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9fb4a2bea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fb4a2bea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9fb4a2bea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fb4a2bea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9fb4a2bea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fb4a2bea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fb4a2bea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fb4a2bea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9fb4a2bea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fb4a2bea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9fb4a2bea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fb4a2bea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9fb4a2bea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fb4a2beaf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fb4a2beaf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fb4a2beaf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9fb4a2beaf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fb4a2beaf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9fb4a2bea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fb4a2beaf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9fb4a2bea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9fb4a2beaf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9fb4a2beaf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">
  <p:cSld name="BLANK_1_1_1_1_8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1" name="Google Shape;21;p3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2" name="Google Shape;22;p3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3" name="Google Shape;23;p3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 with small statement">
  <p:cSld name="BLANK_1_1_1_1_6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5503325" y="524750"/>
            <a:ext cx="3356100" cy="8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276075" y="457200"/>
            <a:ext cx="50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idx="3" type="subTitle"/>
          </p:nvPr>
        </p:nvSpPr>
        <p:spPr>
          <a:xfrm>
            <a:off x="27952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subTitle"/>
          </p:nvPr>
        </p:nvSpPr>
        <p:spPr>
          <a:xfrm>
            <a:off x="2489940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subTitle"/>
          </p:nvPr>
        </p:nvSpPr>
        <p:spPr>
          <a:xfrm>
            <a:off x="469513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subTitle"/>
          </p:nvPr>
        </p:nvSpPr>
        <p:spPr>
          <a:xfrm>
            <a:off x="6900335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body"/>
          </p:nvPr>
        </p:nvSpPr>
        <p:spPr>
          <a:xfrm>
            <a:off x="27495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4" name="Google Shape;34;p4"/>
          <p:cNvSpPr txBox="1"/>
          <p:nvPr>
            <p:ph idx="8" type="body"/>
          </p:nvPr>
        </p:nvSpPr>
        <p:spPr>
          <a:xfrm>
            <a:off x="248994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5" name="Google Shape;35;p4"/>
          <p:cNvSpPr txBox="1"/>
          <p:nvPr>
            <p:ph idx="9" type="body"/>
          </p:nvPr>
        </p:nvSpPr>
        <p:spPr>
          <a:xfrm>
            <a:off x="470493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6" name="Google Shape;36;p4"/>
          <p:cNvSpPr txBox="1"/>
          <p:nvPr>
            <p:ph idx="13" type="body"/>
          </p:nvPr>
        </p:nvSpPr>
        <p:spPr>
          <a:xfrm>
            <a:off x="6900335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7" name="Google Shape;37;p4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right image and 2 text boxes">
  <p:cSld name="BLANK_1_1_1_1_5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276075" y="457200"/>
            <a:ext cx="6432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>
            <p:ph idx="2" type="pic"/>
          </p:nvPr>
        </p:nvSpPr>
        <p:spPr>
          <a:xfrm>
            <a:off x="6802800" y="0"/>
            <a:ext cx="23412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4682775" y="2717425"/>
            <a:ext cx="20262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3" type="subTitle"/>
          </p:nvPr>
        </p:nvSpPr>
        <p:spPr>
          <a:xfrm>
            <a:off x="6843453" y="2717425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5" type="body"/>
          </p:nvPr>
        </p:nvSpPr>
        <p:spPr>
          <a:xfrm>
            <a:off x="4682775" y="3042765"/>
            <a:ext cx="20262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49" name="Google Shape;49;p5"/>
          <p:cNvSpPr txBox="1"/>
          <p:nvPr>
            <p:ph idx="6" type="body"/>
          </p:nvPr>
        </p:nvSpPr>
        <p:spPr>
          <a:xfrm>
            <a:off x="6843455" y="3042765"/>
            <a:ext cx="20301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peakers info">
  <p:cSld name="BLANK_1_1_1_1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5461825" y="850"/>
            <a:ext cx="368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" name="Google Shape;52;p6"/>
          <p:cNvSpPr txBox="1"/>
          <p:nvPr>
            <p:ph idx="1" type="subTitle"/>
          </p:nvPr>
        </p:nvSpPr>
        <p:spPr>
          <a:xfrm>
            <a:off x="1987875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subTitle"/>
          </p:nvPr>
        </p:nvSpPr>
        <p:spPr>
          <a:xfrm>
            <a:off x="1987875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4" name="Google Shape;54;p6"/>
          <p:cNvSpPr/>
          <p:nvPr>
            <p:ph idx="3" type="pic"/>
          </p:nvPr>
        </p:nvSpPr>
        <p:spPr>
          <a:xfrm>
            <a:off x="-5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6"/>
          <p:cNvSpPr/>
          <p:nvPr>
            <p:ph idx="4" type="pic"/>
          </p:nvPr>
        </p:nvSpPr>
        <p:spPr>
          <a:xfrm>
            <a:off x="452716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6"/>
          <p:cNvSpPr txBox="1"/>
          <p:nvPr>
            <p:ph idx="5" type="subTitle"/>
          </p:nvPr>
        </p:nvSpPr>
        <p:spPr>
          <a:xfrm>
            <a:off x="6525486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6" type="subTitle"/>
          </p:nvPr>
        </p:nvSpPr>
        <p:spPr>
          <a:xfrm>
            <a:off x="6525486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8" name="Google Shape;58;p6"/>
          <p:cNvSpPr txBox="1"/>
          <p:nvPr>
            <p:ph type="title"/>
          </p:nvPr>
        </p:nvSpPr>
        <p:spPr>
          <a:xfrm>
            <a:off x="276075" y="457200"/>
            <a:ext cx="4248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6"/>
          <p:cNvSpPr txBox="1"/>
          <p:nvPr>
            <p:ph idx="8" type="body"/>
          </p:nvPr>
        </p:nvSpPr>
        <p:spPr>
          <a:xfrm>
            <a:off x="1987875" y="3545425"/>
            <a:ext cx="17550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9" type="body"/>
          </p:nvPr>
        </p:nvSpPr>
        <p:spPr>
          <a:xfrm>
            <a:off x="6536675" y="3545425"/>
            <a:ext cx="16998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>
            <p:ph idx="2" type="pic"/>
          </p:nvPr>
        </p:nvSpPr>
        <p:spPr>
          <a:xfrm>
            <a:off x="4138225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"/>
          <p:cNvSpPr/>
          <p:nvPr>
            <p:ph idx="3" type="pic"/>
          </p:nvPr>
        </p:nvSpPr>
        <p:spPr>
          <a:xfrm>
            <a:off x="4138225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7"/>
          <p:cNvSpPr/>
          <p:nvPr>
            <p:ph idx="4" type="pic"/>
          </p:nvPr>
        </p:nvSpPr>
        <p:spPr>
          <a:xfrm>
            <a:off x="4138213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7"/>
          <p:cNvSpPr/>
          <p:nvPr>
            <p:ph idx="5" type="pic"/>
          </p:nvPr>
        </p:nvSpPr>
        <p:spPr>
          <a:xfrm>
            <a:off x="6573252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"/>
          <p:cNvSpPr/>
          <p:nvPr>
            <p:ph idx="6" type="pic"/>
          </p:nvPr>
        </p:nvSpPr>
        <p:spPr>
          <a:xfrm>
            <a:off x="6573252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7"/>
          <p:cNvSpPr/>
          <p:nvPr>
            <p:ph idx="7" type="pic"/>
          </p:nvPr>
        </p:nvSpPr>
        <p:spPr>
          <a:xfrm>
            <a:off x="6573252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5406561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1" name="Google Shape;71;p7"/>
          <p:cNvSpPr txBox="1"/>
          <p:nvPr>
            <p:ph idx="8" type="subTitle"/>
          </p:nvPr>
        </p:nvSpPr>
        <p:spPr>
          <a:xfrm>
            <a:off x="5406561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9" type="subTitle"/>
          </p:nvPr>
        </p:nvSpPr>
        <p:spPr>
          <a:xfrm>
            <a:off x="5406561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13" type="subTitle"/>
          </p:nvPr>
        </p:nvSpPr>
        <p:spPr>
          <a:xfrm>
            <a:off x="7840736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4" type="subTitle"/>
          </p:nvPr>
        </p:nvSpPr>
        <p:spPr>
          <a:xfrm>
            <a:off x="7840736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15" type="subTitle"/>
          </p:nvPr>
        </p:nvSpPr>
        <p:spPr>
          <a:xfrm>
            <a:off x="7840736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6" type="subTitle"/>
          </p:nvPr>
        </p:nvSpPr>
        <p:spPr>
          <a:xfrm>
            <a:off x="5406550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7" name="Google Shape;77;p7"/>
          <p:cNvSpPr txBox="1"/>
          <p:nvPr>
            <p:ph idx="17" type="subTitle"/>
          </p:nvPr>
        </p:nvSpPr>
        <p:spPr>
          <a:xfrm>
            <a:off x="7840725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8" name="Google Shape;78;p7"/>
          <p:cNvSpPr txBox="1"/>
          <p:nvPr>
            <p:ph idx="18" type="subTitle"/>
          </p:nvPr>
        </p:nvSpPr>
        <p:spPr>
          <a:xfrm>
            <a:off x="5406550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9" name="Google Shape;79;p7"/>
          <p:cNvSpPr txBox="1"/>
          <p:nvPr>
            <p:ph idx="19" type="subTitle"/>
          </p:nvPr>
        </p:nvSpPr>
        <p:spPr>
          <a:xfrm>
            <a:off x="7840725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0" name="Google Shape;80;p7"/>
          <p:cNvSpPr txBox="1"/>
          <p:nvPr>
            <p:ph idx="20" type="subTitle"/>
          </p:nvPr>
        </p:nvSpPr>
        <p:spPr>
          <a:xfrm>
            <a:off x="5406550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1" name="Google Shape;81;p7"/>
          <p:cNvSpPr txBox="1"/>
          <p:nvPr>
            <p:ph idx="21" type="subTitle"/>
          </p:nvPr>
        </p:nvSpPr>
        <p:spPr>
          <a:xfrm>
            <a:off x="7840725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2" name="Google Shape;82;p7"/>
          <p:cNvSpPr txBox="1"/>
          <p:nvPr>
            <p:ph type="title"/>
          </p:nvPr>
        </p:nvSpPr>
        <p:spPr>
          <a:xfrm>
            <a:off x="276075" y="457200"/>
            <a:ext cx="38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2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4" name="Google Shape;84;p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8"/>
          <p:cNvSpPr txBox="1"/>
          <p:nvPr>
            <p:ph idx="2" type="body"/>
          </p:nvPr>
        </p:nvSpPr>
        <p:spPr>
          <a:xfrm>
            <a:off x="276075" y="1763425"/>
            <a:ext cx="43428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with picture">
  <p:cSld name="BLANK_1_1_1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3" name="Google Shape;93;p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9"/>
          <p:cNvSpPr/>
          <p:nvPr>
            <p:ph idx="3" type="pic"/>
          </p:nvPr>
        </p:nvSpPr>
        <p:spPr>
          <a:xfrm>
            <a:off x="0" y="0"/>
            <a:ext cx="9144000" cy="107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dk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270983" y="1985025"/>
            <a:ext cx="33429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98" name="Google Shape;98;p10"/>
          <p:cNvSpPr txBox="1"/>
          <p:nvPr>
            <p:ph idx="2" type="title"/>
          </p:nvPr>
        </p:nvSpPr>
        <p:spPr>
          <a:xfrm>
            <a:off x="270983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9" name="Google Shape;99;p10"/>
          <p:cNvSpPr txBox="1"/>
          <p:nvPr>
            <p:ph idx="3" type="title"/>
          </p:nvPr>
        </p:nvSpPr>
        <p:spPr>
          <a:xfrm>
            <a:off x="270983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0" name="Google Shape;100;p10"/>
          <p:cNvSpPr txBox="1"/>
          <p:nvPr>
            <p:ph idx="4" type="title"/>
          </p:nvPr>
        </p:nvSpPr>
        <p:spPr>
          <a:xfrm>
            <a:off x="4858317" y="19850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5" type="title"/>
          </p:nvPr>
        </p:nvSpPr>
        <p:spPr>
          <a:xfrm>
            <a:off x="4858317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6" type="title"/>
          </p:nvPr>
        </p:nvSpPr>
        <p:spPr>
          <a:xfrm>
            <a:off x="4858317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7"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0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7" name="Google Shape;107;p10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8" name="Google Shape;108;p10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9" name="Google Shape;109;p10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10" name="Google Shape;110;p10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11" name="Google Shape;111;p10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>
            <p:ph idx="2" type="pic"/>
          </p:nvPr>
        </p:nvSpPr>
        <p:spPr>
          <a:xfrm>
            <a:off x="0" y="0"/>
            <a:ext cx="434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4618950" y="457200"/>
            <a:ext cx="425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1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BLANK_1_1_1_1_1_1_1_1_1_1_1_1_1_1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>
            <p:ph idx="2" type="pic"/>
          </p:nvPr>
        </p:nvSpPr>
        <p:spPr>
          <a:xfrm>
            <a:off x="6877724" y="0"/>
            <a:ext cx="2266200" cy="34050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3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CUSTOM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4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41" name="Google Shape;141;p14"/>
          <p:cNvSpPr txBox="1"/>
          <p:nvPr>
            <p:ph idx="3" type="body"/>
          </p:nvPr>
        </p:nvSpPr>
        <p:spPr>
          <a:xfrm>
            <a:off x="30747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body"/>
          </p:nvPr>
        </p:nvSpPr>
        <p:spPr>
          <a:xfrm>
            <a:off x="48828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4" name="Google Shape;144;p14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5" name="Google Shape;145;p14"/>
          <p:cNvSpPr txBox="1"/>
          <p:nvPr>
            <p:ph idx="7" type="body"/>
          </p:nvPr>
        </p:nvSpPr>
        <p:spPr>
          <a:xfrm>
            <a:off x="66909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6" name="Google Shape;146;p14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14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8" name="Google Shape;148;p14"/>
          <p:cNvSpPr/>
          <p:nvPr>
            <p:ph idx="13" type="pic"/>
          </p:nvPr>
        </p:nvSpPr>
        <p:spPr>
          <a:xfrm>
            <a:off x="-74" y="3991500"/>
            <a:ext cx="2266200" cy="115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CUSTOM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" type="subTitle"/>
          </p:nvPr>
        </p:nvSpPr>
        <p:spPr>
          <a:xfrm>
            <a:off x="276075" y="1194000"/>
            <a:ext cx="49926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4" type="body"/>
          </p:nvPr>
        </p:nvSpPr>
        <p:spPr>
          <a:xfrm>
            <a:off x="2760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5" type="subTitle"/>
          </p:nvPr>
        </p:nvSpPr>
        <p:spPr>
          <a:xfrm>
            <a:off x="2760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p15"/>
          <p:cNvSpPr txBox="1"/>
          <p:nvPr>
            <p:ph idx="6" type="body"/>
          </p:nvPr>
        </p:nvSpPr>
        <p:spPr>
          <a:xfrm>
            <a:off x="30747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8" name="Google Shape;158;p15"/>
          <p:cNvSpPr txBox="1"/>
          <p:nvPr>
            <p:ph idx="7" type="subTitle"/>
          </p:nvPr>
        </p:nvSpPr>
        <p:spPr>
          <a:xfrm>
            <a:off x="30747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8" type="body"/>
          </p:nvPr>
        </p:nvSpPr>
        <p:spPr>
          <a:xfrm>
            <a:off x="58734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60" name="Google Shape;160;p15"/>
          <p:cNvSpPr txBox="1"/>
          <p:nvPr>
            <p:ph idx="9" type="subTitle"/>
          </p:nvPr>
        </p:nvSpPr>
        <p:spPr>
          <a:xfrm>
            <a:off x="58734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1" name="Google Shape;161;p15"/>
          <p:cNvSpPr/>
          <p:nvPr>
            <p:ph idx="13" type="pic"/>
          </p:nvPr>
        </p:nvSpPr>
        <p:spPr>
          <a:xfrm>
            <a:off x="2760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5"/>
          <p:cNvSpPr/>
          <p:nvPr>
            <p:ph idx="14" type="pic"/>
          </p:nvPr>
        </p:nvSpPr>
        <p:spPr>
          <a:xfrm>
            <a:off x="30747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15"/>
          <p:cNvSpPr/>
          <p:nvPr>
            <p:ph idx="15" type="pic"/>
          </p:nvPr>
        </p:nvSpPr>
        <p:spPr>
          <a:xfrm>
            <a:off x="5873475" y="2073688"/>
            <a:ext cx="2463300" cy="157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CUSTOM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6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71" name="Google Shape;17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190" name="Google Shape;190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1" name="Google Shape;191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2" name="Google Shape;202;p2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3" name="Google Shape;203;p2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9" name="Google Shape;209;p2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3" name="Google Shape;213;p3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4" name="Google Shape;214;p3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" name="Google Shape;215;p3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20" name="Google Shape;220;p3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1" name="Google Shape;221;p3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2" name="Google Shape;222;p3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3" name="Google Shape;223;p3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6" name="Google Shape;226;p3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" name="Google Shape;227;p3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3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9" name="Google Shape;229;p3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30" name="Google Shape;230;p3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" name="Google Shape;231;p3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3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3" name="Google Shape;233;p3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6" name="Google Shape;236;p3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9" name="Google Shape;239;p3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3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2" name="Google Shape;24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3" name="Google Shape;243;p3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4" name="Google Shape;244;p3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7" name="Google Shape;247;p3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0" name="Google Shape;250;p3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2" name="Google Shape;25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3" name="Google Shape;253;p3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4" name="Google Shape;254;p3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5" name="Google Shape;255;p3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6" name="Google Shape;266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3950" y="3166425"/>
            <a:ext cx="64248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78750" y="513900"/>
            <a:ext cx="5802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pos="174">
          <p15:clr>
            <a:srgbClr val="E46962"/>
          </p15:clr>
        </p15:guide>
        <p15:guide id="22" pos="55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rchitectural detail of a modern building." id="273" name="Google Shape;273;p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1984" r="8587" t="0"/>
          <a:stretch/>
        </p:blipFill>
        <p:spPr>
          <a:xfrm>
            <a:off x="6877050" y="0"/>
            <a:ext cx="2271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8"/>
          <p:cNvSpPr txBox="1"/>
          <p:nvPr>
            <p:ph idx="4294967295" type="title"/>
          </p:nvPr>
        </p:nvSpPr>
        <p:spPr>
          <a:xfrm>
            <a:off x="228600" y="1983000"/>
            <a:ext cx="6524100" cy="117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MCP 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(Model Context Protocol)</a:t>
            </a:r>
            <a:endParaRPr sz="4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>
            <p:ph idx="7" type="title"/>
          </p:nvPr>
        </p:nvSpPr>
        <p:spPr>
          <a:xfrm>
            <a:off x="489750" y="1324950"/>
            <a:ext cx="8258400" cy="24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The Model Context Protocol (MCP) was </a:t>
            </a:r>
            <a:r>
              <a:rPr b="1" lang="en" sz="1800">
                <a:solidFill>
                  <a:srgbClr val="000000"/>
                </a:solidFill>
              </a:rPr>
              <a:t>developed by</a:t>
            </a:r>
            <a:r>
              <a:rPr lang="en" sz="1800">
                <a:solidFill>
                  <a:srgbClr val="000000"/>
                </a:solidFill>
              </a:rPr>
              <a:t> Anthropic to allow </a:t>
            </a:r>
            <a:r>
              <a:rPr b="1" lang="en" sz="1800">
                <a:solidFill>
                  <a:srgbClr val="000000"/>
                </a:solidFill>
              </a:rPr>
              <a:t>AI models (like GPT)</a:t>
            </a:r>
            <a:r>
              <a:rPr lang="en" sz="1800">
                <a:solidFill>
                  <a:srgbClr val="000000"/>
                </a:solidFill>
              </a:rPr>
              <a:t> to securely connect to </a:t>
            </a:r>
            <a:r>
              <a:rPr b="1" lang="en" sz="1800">
                <a:solidFill>
                  <a:srgbClr val="000000"/>
                </a:solidFill>
              </a:rPr>
              <a:t>external tools, data, or APIs</a:t>
            </a:r>
            <a:r>
              <a:rPr lang="en" sz="1800">
                <a:solidFill>
                  <a:srgbClr val="000000"/>
                </a:solidFill>
              </a:rPr>
              <a:t> — in a consistent and controlled way.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It’s like a universal adapter between AI models and the outside world.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280" name="Google Shape;280;p3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6" name="Google Shape;286;p40" title="MC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6031" y="730838"/>
            <a:ext cx="6445832" cy="36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type="title"/>
          </p:nvPr>
        </p:nvSpPr>
        <p:spPr>
          <a:xfrm>
            <a:off x="276075" y="978600"/>
            <a:ext cx="3800100" cy="31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Think of </a:t>
            </a:r>
            <a:r>
              <a:rPr b="1" lang="en" sz="1800">
                <a:solidFill>
                  <a:srgbClr val="000000"/>
                </a:solidFill>
              </a:rPr>
              <a:t>MCP</a:t>
            </a:r>
            <a:r>
              <a:rPr lang="en" sz="1800">
                <a:solidFill>
                  <a:srgbClr val="000000"/>
                </a:solidFill>
              </a:rPr>
              <a:t> as the </a:t>
            </a:r>
            <a:r>
              <a:rPr b="1" lang="en" sz="1800">
                <a:solidFill>
                  <a:srgbClr val="000000"/>
                </a:solidFill>
              </a:rPr>
              <a:t>USB-C of the AI ecosystem</a:t>
            </a:r>
            <a:r>
              <a:rPr lang="en" sz="1800">
                <a:solidFill>
                  <a:srgbClr val="000000"/>
                </a:solidFill>
              </a:rPr>
              <a:t>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Just like USB-C makes it easy for hardware devices to connect and share data or power,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MCP makes it easy for AI models to connect and share context with tools, APIs, and databases.</a:t>
            </a:r>
            <a:endParaRPr sz="1800"/>
          </a:p>
        </p:txBody>
      </p:sp>
      <p:sp>
        <p:nvSpPr>
          <p:cNvPr id="292" name="Google Shape;292;p4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3" name="Google Shape;293;p41" title="ChatGPT Image Nov 3, 2025, 02_06_08 PM.png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-2448" r="0" t="19002"/>
          <a:stretch/>
        </p:blipFill>
        <p:spPr>
          <a:xfrm>
            <a:off x="4661400" y="759150"/>
            <a:ext cx="4095000" cy="3625200"/>
          </a:xfrm>
          <a:prstGeom prst="roundRect">
            <a:avLst>
              <a:gd fmla="val 0" name="adj"/>
            </a:avLst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9" name="Google Shape;299;p42" title="Screenshot 2025-11-03 140538.png"/>
          <p:cNvPicPr preferRelativeResize="0"/>
          <p:nvPr/>
        </p:nvPicPr>
        <p:blipFill rotWithShape="1">
          <a:blip r:embed="rId3">
            <a:alphaModFix/>
          </a:blip>
          <a:srcRect b="0" l="0" r="8391" t="0"/>
          <a:stretch/>
        </p:blipFill>
        <p:spPr>
          <a:xfrm>
            <a:off x="941100" y="392400"/>
            <a:ext cx="7167900" cy="4358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3"/>
          <p:cNvSpPr txBox="1"/>
          <p:nvPr>
            <p:ph idx="5" type="body"/>
          </p:nvPr>
        </p:nvSpPr>
        <p:spPr>
          <a:xfrm>
            <a:off x="397500" y="1373875"/>
            <a:ext cx="84729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Before MCP, integrating AI models with external tools required creating custom connections for each combination</a:t>
            </a:r>
            <a:endParaRPr sz="1400"/>
          </a:p>
        </p:txBody>
      </p:sp>
      <p:sp>
        <p:nvSpPr>
          <p:cNvPr id="305" name="Google Shape;305;p43"/>
          <p:cNvSpPr txBox="1"/>
          <p:nvPr>
            <p:ph type="title"/>
          </p:nvPr>
        </p:nvSpPr>
        <p:spPr>
          <a:xfrm>
            <a:off x="563325" y="457200"/>
            <a:ext cx="3157500" cy="36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The M×N Problem</a:t>
            </a:r>
            <a:endParaRPr/>
          </a:p>
        </p:txBody>
      </p:sp>
      <p:pic>
        <p:nvPicPr>
          <p:cNvPr id="306" name="Google Shape;306;p43"/>
          <p:cNvPicPr preferRelativeResize="0"/>
          <p:nvPr/>
        </p:nvPicPr>
        <p:blipFill rotWithShape="1">
          <a:blip r:embed="rId3">
            <a:alphaModFix/>
          </a:blip>
          <a:srcRect b="33043" l="0" r="0" t="33047"/>
          <a:stretch/>
        </p:blipFill>
        <p:spPr>
          <a:xfrm>
            <a:off x="6877850" y="0"/>
            <a:ext cx="2266146" cy="115205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n architectural detail of a modern building." id="308" name="Google Shape;308;p43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33062" l="0" r="0" t="33065"/>
          <a:stretch/>
        </p:blipFill>
        <p:spPr>
          <a:xfrm>
            <a:off x="6802800" y="0"/>
            <a:ext cx="2341200" cy="1189801"/>
          </a:xfrm>
          <a:prstGeom prst="rect">
            <a:avLst/>
          </a:prstGeom>
        </p:spPr>
      </p:pic>
      <p:sp>
        <p:nvSpPr>
          <p:cNvPr id="309" name="Google Shape;309;p43"/>
          <p:cNvSpPr txBox="1"/>
          <p:nvPr>
            <p:ph idx="6" type="body"/>
          </p:nvPr>
        </p:nvSpPr>
        <p:spPr>
          <a:xfrm>
            <a:off x="463508" y="2121750"/>
            <a:ext cx="8217000" cy="22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In AI systems, we often have: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400"/>
              <a:t>M = Number of AI models or agents</a:t>
            </a:r>
            <a:r>
              <a:rPr lang="en" sz="1400"/>
              <a:t> (e.g., GPT, Claude, Gemini, Llama)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400"/>
              <a:t>N = Number of tools or data sources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/>
              <a:t>(e.g., APIs, databases, vector stores, plugins)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Without a standard like MCP, every model must be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400"/>
              <a:t>manually integrated  </a:t>
            </a:r>
            <a:r>
              <a:rPr lang="en" sz="1400"/>
              <a:t>with every tool.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/>
              <a:t> That leads to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400"/>
              <a:t>M × N integrations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</a:t>
            </a:r>
            <a:r>
              <a:rPr lang="en" sz="1400"/>
              <a:t> a huge amount of repetitive work.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44"/>
          <p:cNvSpPr txBox="1"/>
          <p:nvPr>
            <p:ph idx="4" type="body"/>
          </p:nvPr>
        </p:nvSpPr>
        <p:spPr>
          <a:xfrm>
            <a:off x="985650" y="1399200"/>
            <a:ext cx="7078800" cy="234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For example we have 4 AI models (GPT - 4,Claude.Gemini,DeepSeek) and 5 tools (GitHub, Slack, Google Drive, Salesforce, database)</a:t>
            </a:r>
            <a:endParaRPr sz="15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Without</a:t>
            </a:r>
            <a:r>
              <a:rPr lang="en" sz="1500"/>
              <a:t> MCP - 4 models * 5 tools = 20 connections</a:t>
            </a:r>
            <a:endParaRPr sz="15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With MCP - 4  +  5 = 9 components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1" name="Google Shape;321;p45" title="ChatGPT Image Nov 3, 2025, 02_36_09 PM.png"/>
          <p:cNvPicPr preferRelativeResize="0"/>
          <p:nvPr/>
        </p:nvPicPr>
        <p:blipFill rotWithShape="1">
          <a:blip r:embed="rId3">
            <a:alphaModFix/>
          </a:blip>
          <a:srcRect b="1475" l="0" r="52419" t="1465"/>
          <a:stretch/>
        </p:blipFill>
        <p:spPr>
          <a:xfrm>
            <a:off x="792125" y="152400"/>
            <a:ext cx="355797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5" title="ChatGPT Image Nov 3, 2025, 02_36_09 PM.png"/>
          <p:cNvPicPr preferRelativeResize="0"/>
          <p:nvPr/>
        </p:nvPicPr>
        <p:blipFill rotWithShape="1">
          <a:blip r:embed="rId3">
            <a:alphaModFix/>
          </a:blip>
          <a:srcRect b="28759" l="49482" r="0" t="0"/>
          <a:stretch/>
        </p:blipFill>
        <p:spPr>
          <a:xfrm>
            <a:off x="5098475" y="228600"/>
            <a:ext cx="3557975" cy="476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6"/>
          <p:cNvSpPr txBox="1"/>
          <p:nvPr>
            <p:ph type="title"/>
          </p:nvPr>
        </p:nvSpPr>
        <p:spPr>
          <a:xfrm>
            <a:off x="276075" y="457200"/>
            <a:ext cx="50001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Architecture</a:t>
            </a:r>
            <a:endParaRPr/>
          </a:p>
        </p:txBody>
      </p:sp>
      <p:sp>
        <p:nvSpPr>
          <p:cNvPr id="328" name="Google Shape;328;p4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9" name="Google Shape;329;p46" title="architecture.jpg"/>
          <p:cNvPicPr preferRelativeResize="0"/>
          <p:nvPr/>
        </p:nvPicPr>
        <p:blipFill rotWithShape="1">
          <a:blip r:embed="rId3">
            <a:alphaModFix/>
          </a:blip>
          <a:srcRect b="0" l="0" r="0" t="22106"/>
          <a:stretch/>
        </p:blipFill>
        <p:spPr>
          <a:xfrm>
            <a:off x="1529263" y="1066375"/>
            <a:ext cx="6085476" cy="37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4" name="Google Shape;334;p47"/>
          <p:cNvCxnSpPr/>
          <p:nvPr/>
        </p:nvCxnSpPr>
        <p:spPr>
          <a:xfrm rot="10800000">
            <a:off x="331950" y="4524025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4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7"/>
          <p:cNvSpPr txBox="1"/>
          <p:nvPr>
            <p:ph idx="15" type="subTitle"/>
          </p:nvPr>
        </p:nvSpPr>
        <p:spPr>
          <a:xfrm>
            <a:off x="3336988" y="656628"/>
            <a:ext cx="505800" cy="4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02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" name="Google Shape;337;p47"/>
          <p:cNvSpPr txBox="1"/>
          <p:nvPr>
            <p:ph idx="14" type="subTitle"/>
          </p:nvPr>
        </p:nvSpPr>
        <p:spPr>
          <a:xfrm>
            <a:off x="414449" y="656628"/>
            <a:ext cx="505800" cy="4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01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p47"/>
          <p:cNvSpPr txBox="1"/>
          <p:nvPr>
            <p:ph idx="16" type="subTitle"/>
          </p:nvPr>
        </p:nvSpPr>
        <p:spPr>
          <a:xfrm>
            <a:off x="6259527" y="656628"/>
            <a:ext cx="505800" cy="4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03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" name="Google Shape;339;p47"/>
          <p:cNvSpPr txBox="1"/>
          <p:nvPr>
            <p:ph idx="3" type="subTitle"/>
          </p:nvPr>
        </p:nvSpPr>
        <p:spPr>
          <a:xfrm>
            <a:off x="414453" y="1360992"/>
            <a:ext cx="2604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Server</a:t>
            </a:r>
            <a:endParaRPr sz="2000"/>
          </a:p>
        </p:txBody>
      </p:sp>
      <p:sp>
        <p:nvSpPr>
          <p:cNvPr id="340" name="Google Shape;340;p47"/>
          <p:cNvSpPr txBox="1"/>
          <p:nvPr>
            <p:ph idx="4" type="subTitle"/>
          </p:nvPr>
        </p:nvSpPr>
        <p:spPr>
          <a:xfrm>
            <a:off x="3336974" y="1360992"/>
            <a:ext cx="2604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Client</a:t>
            </a:r>
            <a:endParaRPr sz="2000"/>
          </a:p>
        </p:txBody>
      </p:sp>
      <p:sp>
        <p:nvSpPr>
          <p:cNvPr id="341" name="Google Shape;341;p47"/>
          <p:cNvSpPr txBox="1"/>
          <p:nvPr>
            <p:ph idx="5" type="subTitle"/>
          </p:nvPr>
        </p:nvSpPr>
        <p:spPr>
          <a:xfrm>
            <a:off x="6252602" y="1360992"/>
            <a:ext cx="2604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Host</a:t>
            </a:r>
            <a:endParaRPr sz="2000"/>
          </a:p>
        </p:txBody>
      </p:sp>
      <p:sp>
        <p:nvSpPr>
          <p:cNvPr id="342" name="Google Shape;342;p47"/>
          <p:cNvSpPr txBox="1"/>
          <p:nvPr>
            <p:ph idx="7" type="body"/>
          </p:nvPr>
        </p:nvSpPr>
        <p:spPr>
          <a:xfrm>
            <a:off x="408400" y="1926775"/>
            <a:ext cx="2604900" cy="24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</a:t>
            </a:r>
            <a:r>
              <a:rPr b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Server</a:t>
            </a: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component handles the </a:t>
            </a:r>
            <a:r>
              <a:rPr b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backend operations</a:t>
            </a: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— everything related to </a:t>
            </a:r>
            <a:r>
              <a:rPr b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access, APIs, and computation</a:t>
            </a: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</a:t>
            </a:r>
            <a:endParaRPr sz="14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server provides the </a:t>
            </a:r>
            <a:r>
              <a:rPr b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actual data and services</a:t>
            </a: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that the model or application needs using MCP Primitives.</a:t>
            </a:r>
            <a:endParaRPr sz="14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43" name="Google Shape;343;p47"/>
          <p:cNvSpPr txBox="1"/>
          <p:nvPr>
            <p:ph idx="8" type="body"/>
          </p:nvPr>
        </p:nvSpPr>
        <p:spPr>
          <a:xfrm>
            <a:off x="3336975" y="1993034"/>
            <a:ext cx="2604900" cy="21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</a:t>
            </a:r>
            <a:r>
              <a:rPr b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Client</a:t>
            </a: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represents the </a:t>
            </a:r>
            <a:r>
              <a:rPr b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interface</a:t>
            </a: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that communicates with the MCP system.</a:t>
            </a:r>
            <a:endParaRPr sz="14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client is like a </a:t>
            </a:r>
            <a:r>
              <a:rPr b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messenger</a:t>
            </a: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between the user or host application and the MCP system.</a:t>
            </a:r>
            <a:endParaRPr sz="14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44" name="Google Shape;344;p47"/>
          <p:cNvSpPr txBox="1"/>
          <p:nvPr>
            <p:ph idx="9" type="body"/>
          </p:nvPr>
        </p:nvSpPr>
        <p:spPr>
          <a:xfrm>
            <a:off x="6265550" y="1993025"/>
            <a:ext cx="2604900" cy="18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</a:t>
            </a:r>
            <a:r>
              <a:rPr b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Host</a:t>
            </a: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represents the </a:t>
            </a:r>
            <a:r>
              <a:rPr b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AI-powered application</a:t>
            </a: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that interacts directly with users.</a:t>
            </a:r>
            <a:endParaRPr sz="14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The host provides the </a:t>
            </a:r>
            <a:r>
              <a:rPr b="1"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user-facing environment</a:t>
            </a:r>
            <a:r>
              <a:rPr lang="en" sz="1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where AI interacts with people.</a:t>
            </a:r>
            <a:endParaRPr sz="14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ows of rectangular windows cover the face of a modern building." id="349" name="Google Shape;349;p48"/>
          <p:cNvPicPr preferRelativeResize="0"/>
          <p:nvPr/>
        </p:nvPicPr>
        <p:blipFill rotWithShape="1">
          <a:blip r:embed="rId3">
            <a:alphaModFix/>
          </a:blip>
          <a:srcRect b="39724" l="0" r="0" t="26217"/>
          <a:stretch/>
        </p:blipFill>
        <p:spPr>
          <a:xfrm>
            <a:off x="6877850" y="0"/>
            <a:ext cx="2266150" cy="1152051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8"/>
          <p:cNvSpPr txBox="1"/>
          <p:nvPr>
            <p:ph type="title"/>
          </p:nvPr>
        </p:nvSpPr>
        <p:spPr>
          <a:xfrm>
            <a:off x="523850" y="457200"/>
            <a:ext cx="57132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Primitives</a:t>
            </a:r>
            <a:endParaRPr/>
          </a:p>
        </p:txBody>
      </p:sp>
      <p:sp>
        <p:nvSpPr>
          <p:cNvPr id="351" name="Google Shape;351;p48"/>
          <p:cNvSpPr txBox="1"/>
          <p:nvPr/>
        </p:nvSpPr>
        <p:spPr>
          <a:xfrm>
            <a:off x="710664" y="2417232"/>
            <a:ext cx="194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Executable functions or operations that the model can call.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52" name="Google Shape;352;p48"/>
          <p:cNvSpPr txBox="1"/>
          <p:nvPr/>
        </p:nvSpPr>
        <p:spPr>
          <a:xfrm>
            <a:off x="710664" y="1664400"/>
            <a:ext cx="194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accent1"/>
                </a:highlight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Tools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353" name="Google Shape;353;p48"/>
          <p:cNvCxnSpPr/>
          <p:nvPr/>
        </p:nvCxnSpPr>
        <p:spPr>
          <a:xfrm>
            <a:off x="411350" y="1778363"/>
            <a:ext cx="112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48"/>
          <p:cNvCxnSpPr/>
          <p:nvPr/>
        </p:nvCxnSpPr>
        <p:spPr>
          <a:xfrm>
            <a:off x="411350" y="2497687"/>
            <a:ext cx="112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48"/>
          <p:cNvCxnSpPr/>
          <p:nvPr/>
        </p:nvCxnSpPr>
        <p:spPr>
          <a:xfrm>
            <a:off x="411350" y="3400052"/>
            <a:ext cx="112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48"/>
          <p:cNvSpPr txBox="1"/>
          <p:nvPr/>
        </p:nvSpPr>
        <p:spPr>
          <a:xfrm>
            <a:off x="3786154" y="2417232"/>
            <a:ext cx="194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Represent external data or services that can be accessed by the model.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57" name="Google Shape;357;p48"/>
          <p:cNvSpPr txBox="1"/>
          <p:nvPr/>
        </p:nvSpPr>
        <p:spPr>
          <a:xfrm>
            <a:off x="3786154" y="1664400"/>
            <a:ext cx="194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accent1"/>
                </a:highlight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Resources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358" name="Google Shape;358;p48"/>
          <p:cNvCxnSpPr/>
          <p:nvPr/>
        </p:nvCxnSpPr>
        <p:spPr>
          <a:xfrm>
            <a:off x="3073557" y="1778363"/>
            <a:ext cx="112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8"/>
          <p:cNvCxnSpPr/>
          <p:nvPr/>
        </p:nvCxnSpPr>
        <p:spPr>
          <a:xfrm>
            <a:off x="3073557" y="2497687"/>
            <a:ext cx="112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48"/>
          <p:cNvSpPr txBox="1"/>
          <p:nvPr/>
        </p:nvSpPr>
        <p:spPr>
          <a:xfrm>
            <a:off x="3786154" y="3329075"/>
            <a:ext cx="194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“Weather API”, “Database”, or “Google Drive folder”.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361" name="Google Shape;361;p48"/>
          <p:cNvCxnSpPr/>
          <p:nvPr/>
        </p:nvCxnSpPr>
        <p:spPr>
          <a:xfrm>
            <a:off x="3073557" y="3400052"/>
            <a:ext cx="112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48"/>
          <p:cNvSpPr txBox="1"/>
          <p:nvPr/>
        </p:nvSpPr>
        <p:spPr>
          <a:xfrm>
            <a:off x="6862598" y="2417232"/>
            <a:ext cx="194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Predefined instruction templates that guide the model’s responses.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63" name="Google Shape;363;p48"/>
          <p:cNvSpPr txBox="1"/>
          <p:nvPr/>
        </p:nvSpPr>
        <p:spPr>
          <a:xfrm>
            <a:off x="6862598" y="1664400"/>
            <a:ext cx="194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accent1"/>
                </a:highlight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Prompts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364" name="Google Shape;364;p48"/>
          <p:cNvCxnSpPr/>
          <p:nvPr/>
        </p:nvCxnSpPr>
        <p:spPr>
          <a:xfrm>
            <a:off x="6129875" y="1760925"/>
            <a:ext cx="112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8"/>
          <p:cNvCxnSpPr/>
          <p:nvPr/>
        </p:nvCxnSpPr>
        <p:spPr>
          <a:xfrm>
            <a:off x="6129875" y="2587796"/>
            <a:ext cx="112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48"/>
          <p:cNvSpPr txBox="1"/>
          <p:nvPr/>
        </p:nvSpPr>
        <p:spPr>
          <a:xfrm>
            <a:off x="6862598" y="3329075"/>
            <a:ext cx="1947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summarization prompt, a query prompt, or a code-generation prompt.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367" name="Google Shape;367;p48"/>
          <p:cNvCxnSpPr/>
          <p:nvPr/>
        </p:nvCxnSpPr>
        <p:spPr>
          <a:xfrm>
            <a:off x="6129875" y="3625075"/>
            <a:ext cx="112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4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48"/>
          <p:cNvSpPr txBox="1"/>
          <p:nvPr/>
        </p:nvSpPr>
        <p:spPr>
          <a:xfrm>
            <a:off x="710664" y="3329075"/>
            <a:ext cx="194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A </a:t>
            </a:r>
            <a:r>
              <a:rPr lang="en">
                <a:solidFill>
                  <a:srgbClr val="18803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fetch_weather()</a:t>
            </a: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 tool, </a:t>
            </a:r>
            <a:r>
              <a:rPr lang="en">
                <a:solidFill>
                  <a:srgbClr val="18803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run_sql_query()</a:t>
            </a: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, or </a:t>
            </a:r>
            <a:r>
              <a:rPr lang="en">
                <a:solidFill>
                  <a:srgbClr val="18803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generate_chart()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9"/>
          <p:cNvSpPr txBox="1"/>
          <p:nvPr>
            <p:ph type="title"/>
          </p:nvPr>
        </p:nvSpPr>
        <p:spPr>
          <a:xfrm>
            <a:off x="139275" y="1607550"/>
            <a:ext cx="1502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375" name="Google Shape;375;p49"/>
          <p:cNvSpPr txBox="1"/>
          <p:nvPr/>
        </p:nvSpPr>
        <p:spPr>
          <a:xfrm>
            <a:off x="2208525" y="300950"/>
            <a:ext cx="6661800" cy="45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User Request</a:t>
            </a:r>
            <a:r>
              <a:rPr lang="en" sz="13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: What’s the weather in Delhi?</a:t>
            </a:r>
            <a:endParaRPr sz="13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Prompt : 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{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  "id": "get_weather_prompt",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  "template": "Use the `get_weather` tool to find the current weather for {{city}}."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}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Tool : 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{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  "tool": "get_weather",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  "input_schema": { "city": "string" },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  "output_schema": { "temperature": "number", "condition": "string" }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}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Resource  : 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{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  "type": "resource",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  "id": "weather_api",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  "url": "https://api.weather.com/data"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}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76" name="Google Shape;376;p4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50" title="mcp-auth-flow.png"/>
          <p:cNvPicPr preferRelativeResize="0"/>
          <p:nvPr/>
        </p:nvPicPr>
        <p:blipFill rotWithShape="1">
          <a:blip r:embed="rId3">
            <a:alphaModFix/>
          </a:blip>
          <a:srcRect b="16723" l="0" r="0" t="-169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"/>
          <p:cNvSpPr txBox="1"/>
          <p:nvPr>
            <p:ph type="title"/>
          </p:nvPr>
        </p:nvSpPr>
        <p:spPr>
          <a:xfrm>
            <a:off x="1182150" y="16891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Thankyou</a:t>
            </a:r>
            <a:endParaRPr/>
          </a:p>
        </p:txBody>
      </p:sp>
      <p:pic>
        <p:nvPicPr>
          <p:cNvPr descr="A modern glass building under a sunny blue sky. " id="387" name="Google Shape;387;p51"/>
          <p:cNvPicPr preferRelativeResize="0"/>
          <p:nvPr/>
        </p:nvPicPr>
        <p:blipFill rotWithShape="1">
          <a:blip r:embed="rId3">
            <a:alphaModFix/>
          </a:blip>
          <a:srcRect b="36562" l="0" r="0" t="46565"/>
          <a:stretch/>
        </p:blipFill>
        <p:spPr>
          <a:xfrm>
            <a:off x="9127" y="0"/>
            <a:ext cx="9143997" cy="10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89" name="Google Shape;389;p51"/>
          <p:cNvCxnSpPr/>
          <p:nvPr/>
        </p:nvCxnSpPr>
        <p:spPr>
          <a:xfrm rot="10800000">
            <a:off x="283720" y="46075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Kickoff Presentation">
  <a:themeElements>
    <a:clrScheme name="Simple Light">
      <a:dk1>
        <a:srgbClr val="FBFBFB"/>
      </a:dk1>
      <a:lt1>
        <a:srgbClr val="1C2026"/>
      </a:lt1>
      <a:dk2>
        <a:srgbClr val="F5F5F5"/>
      </a:dk2>
      <a:lt2>
        <a:srgbClr val="1C2026"/>
      </a:lt2>
      <a:accent1>
        <a:srgbClr val="E9E9E9"/>
      </a:accent1>
      <a:accent2>
        <a:srgbClr val="7A7A7A"/>
      </a:accent2>
      <a:accent3>
        <a:srgbClr val="C2C2C2"/>
      </a:accent3>
      <a:accent4>
        <a:srgbClr val="434343"/>
      </a:accent4>
      <a:accent5>
        <a:srgbClr val="666666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